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Calibri"/>
              </a:rPr>
              <a:t>The Anatomy
of NFL Upsets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57600"/>
            <a:ext cx="228600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9EAD"/>
                </a:solidFill>
                <a:latin typeface="Calibri"/>
              </a:rPr>
              <a:t>Comparing Logistic Regression, XGBoost, and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99999"/>
                </a:solidFill>
                <a:latin typeface="Calibri"/>
              </a:rPr>
              <a:t>Wil Fowler  |  AP Research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Key Terms You Need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Here are the key terms that come up throughout this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AUC (Area Under the Curve):</a:t>
            </a:r>
            <a:r>
              <a:rPr sz="1500" b="0">
                <a:solidFill>
                  <a:srgbClr val="666666"/>
                </a:solidFill>
                <a:latin typeface="Calibri"/>
              </a:rPr>
              <a:t> A score from 0 to 1 measuring how well a model ranks outcomes. 0.50 = random guessing, 1.0 = perfect. Think of it like a grade.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p-value:</a:t>
            </a:r>
            <a:r>
              <a:rPr sz="1500" b="0">
                <a:solidFill>
                  <a:srgbClr val="666666"/>
                </a:solidFill>
                <a:latin typeface="Calibri"/>
              </a:rPr>
              <a:t> The probability a result happened by pure luck. Below .05 = likely real. Above .05 = cannot rule out chance.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Bootstrap Confidence Interval:</a:t>
            </a:r>
            <a:r>
              <a:rPr sz="1500" b="0">
                <a:solidFill>
                  <a:srgbClr val="666666"/>
                </a:solidFill>
                <a:latin typeface="Calibri"/>
              </a:rPr>
              <a:t> A range computed by resampling the data thousands of times. If the interval contains zero, the difference is not statistically significant.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Cross-Validation:</a:t>
            </a:r>
            <a:r>
              <a:rPr sz="1500" b="0">
                <a:solidFill>
                  <a:srgbClr val="666666"/>
                </a:solidFill>
                <a:latin typeface="Calibri"/>
              </a:rPr>
              <a:t> Training on older data, testing on newer data the model has never seen. Prevents memorizing answers.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LSTM:</a:t>
            </a:r>
            <a:r>
              <a:rPr sz="1500" b="0">
                <a:solidFill>
                  <a:srgbClr val="666666"/>
                </a:solidFill>
                <a:latin typeface="Calibri"/>
              </a:rPr>
              <a:t> A model that processes games in sequence (week 1, week 2, week 3...) instead of looking at each game alone. Detects momentum and fatigue.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Point Spread:</a:t>
            </a:r>
            <a:r>
              <a:rPr sz="1500" b="0">
                <a:solidFill>
                  <a:srgbClr val="666666"/>
                </a:solidFill>
                <a:latin typeface="Calibri"/>
              </a:rPr>
              <a:t> How many points oddsmakers think the favorite will win by. A spread of 7 = the market expects a touchdown margin.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Spread Ablation:</a:t>
            </a:r>
            <a:r>
              <a:rPr sz="1500" b="0">
                <a:solidFill>
                  <a:srgbClr val="666666"/>
                </a:solidFill>
                <a:latin typeface="Calibri"/>
              </a:rPr>
              <a:t> Removing the point spread from the models to see how much they depend on it versus the raw stats.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4E9EAD"/>
                </a:solidFill>
                <a:latin typeface="Calibri"/>
              </a:rPr>
              <a:t>To what extent can disagreement patterns among logistic regression, XGBoost, and LSTM models, combined with spread ablation analysis, reveal distinct categories of NFL upsets?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NFL upsets happen when a 3+ point underdog wins. That's about 29% of games.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Most models try to predict wins and losses. This study looks at </a:t>
            </a:r>
            <a:r>
              <a:rPr sz="1600" b="1">
                <a:solidFill>
                  <a:srgbClr val="666666"/>
                </a:solidFill>
                <a:latin typeface="Calibri"/>
              </a:rPr>
              <a:t>why</a:t>
            </a:r>
            <a:r>
              <a:rPr sz="1600" b="0">
                <a:solidFill>
                  <a:srgbClr val="666666"/>
                </a:solidFill>
                <a:latin typeface="Calibri"/>
              </a:rPr>
              <a:t> certain upsets happen by analyzing which models get them right and which don't.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Spread ablation removes betting line data to test whether models actually learn something on their own or just echo the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Sports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Logistic regression and statistical models remain competitive with complex ML for NFL game prediction (Boulier &amp; Stekler, 2003)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Tree-based models outperform deep learning on typical tabular data but not necessarily on sequential data (Grinsztajn et al., 2022)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Deep learning including LSTMs shows promise for capturing sequential patterns in sports outcomes (Huang &amp; Li, 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Market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NFL betting lines outperform both expert judgment and statistical models (Song et al., 2007; Wilkens, 2021)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Decorrelating predictions from bookmaker odds is necessary to find genuine signal (Hubacek et al., 2019)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Market inefficiencies exist in specific contexts but are generally small and hard to exploit (Boulier et al., 2006)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Model Disagreement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Per-instance disagreement between models is an unbiased estimate of error variance (Gordon et al., 2021)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Architecturally diverse models pick up on different data patterns (Dietterich, 2000)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No prior work uses model disagreement to categorize upsets into distinct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Gap in the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No one has used model disagreement patterns to classify NFL upsets into distinct types. Existing research treats all upsets the same.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Prior studies focus on binary win/loss prediction, not understanding why specific upsets occur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Ensemble disagreement research tries to improve accuracy, not use disagreement as a diagnostic tool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No one has tested whether prediction models learn independent signals or just reflect what the betting market already knows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Method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Quantitative, quasi-experimental with observational data and ablation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1. Collected 18 NFL regular seasons (2005-2022). Held out 2023-2025 as a true test set.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2. Gave each model the </a:t>
            </a:r>
            <a:r>
              <a:rPr sz="1600" b="1">
                <a:solidFill>
                  <a:srgbClr val="666666"/>
                </a:solidFill>
                <a:latin typeface="Calibri"/>
              </a:rPr>
              <a:t>same data in a different form</a:t>
            </a:r>
            <a:r>
              <a:rPr sz="1600" b="0">
                <a:solidFill>
                  <a:srgbClr val="666666"/>
                </a:solidFill>
                <a:latin typeface="Calibri"/>
              </a:rPr>
              <a:t> — like three analysts watching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the same games but reading different scouting reports: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LR reads </a:t>
            </a:r>
            <a:r>
              <a:rPr sz="1600" b="1">
                <a:solidFill>
                  <a:srgbClr val="666666"/>
                </a:solidFill>
                <a:latin typeface="Calibri"/>
              </a:rPr>
              <a:t>"The Summary"</a:t>
            </a:r>
            <a:r>
              <a:rPr sz="1600" b="0">
                <a:solidFill>
                  <a:srgbClr val="666666"/>
                </a:solidFill>
                <a:latin typeface="Calibri"/>
              </a:rPr>
              <a:t> (46 stats). XGB reads </a:t>
            </a:r>
            <a:r>
              <a:rPr sz="1600" b="1">
                <a:solidFill>
                  <a:srgbClr val="666666"/>
                </a:solidFill>
                <a:latin typeface="Calibri"/>
              </a:rPr>
              <a:t>"The Details"</a:t>
            </a:r>
            <a:r>
              <a:rPr sz="1600" b="0">
                <a:solidFill>
                  <a:srgbClr val="666666"/>
                </a:solidFill>
                <a:latin typeface="Calibri"/>
              </a:rPr>
              <a:t> (70 features with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game-by-game lags). LSTM watches </a:t>
            </a:r>
            <a:r>
              <a:rPr sz="1600" b="1">
                <a:solidFill>
                  <a:srgbClr val="666666"/>
                </a:solidFill>
                <a:latin typeface="Calibri"/>
              </a:rPr>
              <a:t>"The Movie"</a:t>
            </a:r>
            <a:r>
              <a:rPr sz="1600" b="0">
                <a:solidFill>
                  <a:srgbClr val="666666"/>
                </a:solidFill>
                <a:latin typeface="Calibri"/>
              </a:rPr>
              <a:t> (raw 8-game sequences).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3. Trained all three on identical folds (6-fold expanding-window CV). Same data, same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splits — so when they disagree, it's the architecture talking, not the data.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4. Classified every game by </a:t>
            </a:r>
            <a:r>
              <a:rPr sz="1600" b="1">
                <a:solidFill>
                  <a:srgbClr val="666666"/>
                </a:solidFill>
                <a:latin typeface="Calibri"/>
              </a:rPr>
              <a:t>who got it right and who didn't</a:t>
            </a:r>
            <a:r>
              <a:rPr sz="1600" b="0">
                <a:solidFill>
                  <a:srgbClr val="666666"/>
                </a:solidFill>
                <a:latin typeface="Calibri"/>
              </a:rPr>
              <a:t>. The pattern of agreement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and disagreement is the diagnostic tool.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5. Removed the point spread and reran everything. If a model collapses, it was just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echoing the market. If it survives, it learned something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Data &amp; Multi-Representation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Training: 3,495 games (2005-2022)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Test: 558 games (2023-2025)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Upset-eligible: spread of 3+ points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Base rate: ~30% upsets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4747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097280"/>
                <a:gridCol w="6035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Sees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"The Summary"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Rolling averages, differentials, market, Elo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"The Details"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LR's 46 + 24 per-game lag stats (last 3 games)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"The Movie"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14×8 + 10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Raw game-by-game sequences + matchup context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Why these three?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LR</a:t>
            </a:r>
            <a:r>
              <a:rPr sz="1500" b="0">
                <a:solidFill>
                  <a:srgbClr val="666666"/>
                </a:solidFill>
                <a:latin typeface="Calibri"/>
              </a:rPr>
              <a:t> sees linear relationships — is the spread just wrong? </a:t>
            </a:r>
            <a:r>
              <a:rPr sz="1500" b="1">
                <a:solidFill>
                  <a:srgbClr val="666666"/>
                </a:solidFill>
                <a:latin typeface="Calibri"/>
              </a:rPr>
              <a:t>XGBoost</a:t>
            </a:r>
            <a:r>
              <a:rPr sz="1500" b="0">
                <a:solidFill>
                  <a:srgbClr val="666666"/>
                </a:solidFill>
                <a:latin typeface="Calibri"/>
              </a:rPr>
              <a:t> sees interactions — does a bad recent game + short week + road = danger? </a:t>
            </a:r>
            <a:r>
              <a:rPr sz="1500" b="1">
                <a:solidFill>
                  <a:srgbClr val="666666"/>
                </a:solidFill>
                <a:latin typeface="Calibri"/>
              </a:rPr>
              <a:t>LSTM</a:t>
            </a:r>
            <a:r>
              <a:rPr sz="1500" b="0">
                <a:solidFill>
                  <a:srgbClr val="666666"/>
                </a:solidFill>
                <a:latin typeface="Calibri"/>
              </a:rPr>
              <a:t> sees trajectories — is this team on the way up or falling apart?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Results: Cross-Validation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8778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Brier Score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Log Loss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.197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.581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.641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.199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.583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.199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.586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3108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999999"/>
                </a:solidFill>
                <a:latin typeface="Calibri"/>
              </a:rPr>
              <a:t>6-fold expanding-window CV, validation years 2017-2022, N = 1,162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All three models are </a:t>
            </a:r>
            <a:r>
              <a:rPr sz="1500" b="1">
                <a:solidFill>
                  <a:srgbClr val="666666"/>
                </a:solidFill>
                <a:latin typeface="Calibri"/>
              </a:rPr>
              <a:t>statistically indistinguishable</a:t>
            </a:r>
            <a:r>
              <a:rPr sz="1500" b="0">
                <a:solidFill>
                  <a:srgbClr val="666666"/>
                </a:solidFill>
                <a:latin typeface="Calibri"/>
              </a:rPr>
              <a:t>. Bootstrap 95% CIs on all pairwise AUC differences contain zero.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This validates the disagreement framework: disagreement reflects </a:t>
            </a:r>
            <a:r>
              <a:rPr sz="1500" b="1">
                <a:solidFill>
                  <a:srgbClr val="666666"/>
                </a:solidFill>
                <a:latin typeface="Calibri"/>
              </a:rPr>
              <a:t>different perspectives</a:t>
            </a:r>
            <a:r>
              <a:rPr sz="1500" b="0">
                <a:solidFill>
                  <a:srgbClr val="666666"/>
                </a:solidFill>
                <a:latin typeface="Calibri"/>
              </a:rPr>
              <a:t>, not differences in model quality.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LR and XGBoost predictions correlated at .874. The LSTM correlated moderately with both (.784 and .699), confirming it captures partially distinct information.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The XGB-LSTM correlation (.699) is the lowest, reflecting the greatest structural distance between interaction-based and sequence-based 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Results: Disagreement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1463040"/>
                <a:gridCol w="146304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of Games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Upset Rate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All correct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45.4%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36.7%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Strong cross-architectural signal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All wrong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29.3%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20.9%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Outside model capabilities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Only 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18.5%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Temporal signal (unique to LSTM)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 + XGB only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6.7%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29.5%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Static models agree, LSTM disagrees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Only XGB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Non-linear interaction pattern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LR + LSTM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Linear + temporal agreement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Only LR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Linear spread mispricing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XGB + LSTM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Non-linear + temporal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999999"/>
                </a:solidFill>
                <a:latin typeface="Calibri"/>
              </a:rPr>
              <a:t>CV set: 1,162 games, threshold = base upset rate (~0.30)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74.7% of games fall into all-agree categories (all correct + all wrong).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Key finding:</a:t>
            </a:r>
            <a:r>
              <a:rPr sz="1500" b="0">
                <a:solidFill>
                  <a:srgbClr val="666666"/>
                </a:solidFill>
                <a:latin typeface="Calibri"/>
              </a:rPr>
              <a:t> Of 65 LSTM-exclusive games, 53 (81.5%) are </a:t>
            </a:r>
            <a:r>
              <a:rPr sz="1500" b="1">
                <a:solidFill>
                  <a:srgbClr val="666666"/>
                </a:solidFill>
                <a:latin typeface="Calibri"/>
              </a:rPr>
              <a:t>non-upset rejections</a:t>
            </a:r>
            <a:r>
              <a:rPr sz="1500" b="0">
                <a:solidFill>
                  <a:srgbClr val="666666"/>
                </a:solidFill>
                <a:latin typeface="Calibri"/>
              </a:rPr>
              <a:t> — the LSTM moderates false alarms from the other models. Only 12 are upsets caught.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This bias is statistically significant (one-sided binomial p = 0.029).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Results: The LSTM's Role Depends on Spread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This is the study's most diagnostic finding.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828800"/>
                <a:gridCol w="228600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Spread Bucket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LSTM Exclusives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Upsets Caught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Non-Upsets Rejected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Primary Role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Small (3-6.5 pts)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 (8%)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55 (92%)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False-alarm filter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Medium (7-13.5 pts)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 (83%)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 (17%)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Upset detector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Large (14+ pts)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No exclusive value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Close games (3-6.5 pts):</a:t>
            </a:r>
            <a:r>
              <a:rPr sz="1500" b="0">
                <a:solidFill>
                  <a:srgbClr val="666666"/>
                </a:solidFill>
                <a:latin typeface="Calibri"/>
              </a:rPr>
              <a:t> LR and XGB look at the stats and say "upset." The LSTM watches the last 8 games and says "no — this team is trending the wrong way." It's right </a:t>
            </a:r>
            <a:r>
              <a:rPr sz="1500" b="1">
                <a:solidFill>
                  <a:srgbClr val="666666"/>
                </a:solidFill>
                <a:latin typeface="Calibri"/>
              </a:rPr>
              <a:t>92%</a:t>
            </a:r>
            <a:r>
              <a:rPr sz="1500" b="0">
                <a:solidFill>
                  <a:srgbClr val="666666"/>
                </a:solidFill>
                <a:latin typeface="Calibri"/>
              </a:rPr>
              <a:t> of the time. The movie tells a different story than the snapshot.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Bigger underdogs (7-13.5 pts):</a:t>
            </a:r>
            <a:r>
              <a:rPr sz="1500" b="0">
                <a:solidFill>
                  <a:srgbClr val="666666"/>
                </a:solidFill>
                <a:latin typeface="Calibri"/>
              </a:rPr>
              <a:t> Now the LSTM flips. It sees a team getting hotter week by week — improving EPA, winning close games, building momentum. The summary stats say "no chance." The trajectory says </a:t>
            </a:r>
            <a:r>
              <a:rPr sz="1500" b="1">
                <a:solidFill>
                  <a:srgbClr val="666666"/>
                </a:solidFill>
                <a:latin typeface="Calibri"/>
              </a:rPr>
              <a:t>"watch this team."</a:t>
            </a:r>
            <a:r>
              <a:rPr sz="1500" b="0">
                <a:solidFill>
                  <a:srgbClr val="666666"/>
                </a:solidFill>
                <a:latin typeface="Calibri"/>
              </a:rPr>
              <a:t> It catches 83% of these as real upsets.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This inversion is the study's key finding. The LSTM isn't just "better" or "worse" — it reads the game differently depending on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Results: Spread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8595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 With Spread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 Without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.001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.638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.566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-.072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.001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.001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All three models depend heavily on spread data. Bootstrap CIs confirm all deltas are statistically significant.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The LSTM degrades least (-.067) and </a:t>
            </a:r>
            <a:r>
              <a:rPr sz="1500" b="1">
                <a:solidFill>
                  <a:srgbClr val="666666"/>
                </a:solidFill>
                <a:latin typeface="Calibri"/>
              </a:rPr>
              <a:t>becomes the strongest model</a:t>
            </a:r>
            <a:r>
              <a:rPr sz="1500" b="0">
                <a:solidFill>
                  <a:srgbClr val="666666"/>
                </a:solidFill>
                <a:latin typeface="Calibri"/>
              </a:rPr>
              <a:t> without spread (.574 vs .571 and .566). The ranking reverses.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But the LSTM's smaller delta is </a:t>
            </a:r>
            <a:r>
              <a:rPr sz="1500" b="1">
                <a:solidFill>
                  <a:srgbClr val="666666"/>
                </a:solidFill>
                <a:latin typeface="Calibri"/>
              </a:rPr>
              <a:t>not statistically significant</a:t>
            </a:r>
            <a:r>
              <a:rPr sz="1500" b="0">
                <a:solidFill>
                  <a:srgbClr val="666666"/>
                </a:solidFill>
                <a:latin typeface="Calibri"/>
              </a:rPr>
              <a:t> vs LR's delta (bootstrap CI contains zero). Suggestive, not proven.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Without spread, LSTM-exclusive predictions </a:t>
            </a:r>
            <a:r>
              <a:rPr sz="1500" b="1">
                <a:solidFill>
                  <a:srgbClr val="666666"/>
                </a:solidFill>
                <a:latin typeface="Calibri"/>
              </a:rPr>
              <a:t>double</a:t>
            </a:r>
            <a:r>
              <a:rPr sz="1500" b="0">
                <a:solidFill>
                  <a:srgbClr val="666666"/>
                </a:solidFill>
                <a:latin typeface="Calibri"/>
              </a:rPr>
              <a:t> (5.6% → 11.0%) and upsets caught increase from 12 to 33. The spread was masking temporal signal.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LR-XGB correlation dropped from .874 to .742. The spread was the shared anchor holding model predictions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Results: Out-of-Sample Test (2023-2025)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CV AUC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AUC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-.062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.650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.562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-.088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.641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.524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-.117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E9EAD"/>
                </a:solidFill>
                <a:latin typeface="Calibri"/>
              </a:rPr>
              <a:t>Top-K Hit Rates (base rate = 28.5%)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6304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1005840"/>
                <a:gridCol w="10058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XGB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anchor="ctr">
                    <a:solidFill>
                      <a:srgbClr val="4E9EA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>
                    <a:solidFill>
                      <a:srgbClr val="E8F0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474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The LSTM shows the </a:t>
            </a:r>
            <a:r>
              <a:rPr sz="1500" b="1">
                <a:solidFill>
                  <a:srgbClr val="666666"/>
                </a:solidFill>
                <a:latin typeface="Calibri"/>
              </a:rPr>
              <a:t>largest</a:t>
            </a:r>
            <a:r>
              <a:rPr sz="1500" b="0">
                <a:solidFill>
                  <a:srgbClr val="666666"/>
                </a:solidFill>
                <a:latin typeface="Calibri"/>
              </a:rPr>
              <a:t> generalization gap (-.117). Temporal patterns from 2005-2022 do not fully transfer to 2023-2025.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XGBoost generalizes best (-.062). Non-linear interaction patterns are the most temporally stable signal.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LSTM correlation with static models drops dramatically on test: LR .784 → .429, XGB .699 → .408. It diverges more in truly out-of-sample data.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XGBoost's top 10 predictions hit at </a:t>
            </a:r>
            <a:r>
              <a:rPr sz="1500" b="1">
                <a:solidFill>
                  <a:srgbClr val="666666"/>
                </a:solidFill>
                <a:latin typeface="Calibri"/>
              </a:rPr>
              <a:t>60% (2.1x lift)</a:t>
            </a:r>
            <a:r>
              <a:rPr sz="1500" b="0">
                <a:solidFill>
                  <a:srgbClr val="666666"/>
                </a:solidFill>
                <a:latin typeface="Calibri"/>
              </a:rPr>
              <a:t>. Signal concentrates in highest-confidence predictions and fades quickly.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Not All Upsets Are Created Equal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If upsets were random, every model would fail the same way. They don't. The pattern of who gets it right tells you why it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All three agree → The mismatch was obvious from every angle.</a:t>
            </a:r>
            <a:r>
              <a:rPr sz="1500" b="0">
                <a:solidFill>
                  <a:srgbClr val="666666"/>
                </a:solidFill>
                <a:latin typeface="Calibri"/>
              </a:rPr>
              <a:t> The Summary, The Details, and The Movie all told the same story. A team that's better on paper, in the interactions, and on the trajectory. 45% of games. These are the structurally readable outcomes — the games oddsmakers price well.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Only the LSTM sees it → The movie told a story the snapshot couldn't.</a:t>
            </a:r>
            <a:r>
              <a:rPr sz="1500" b="0">
                <a:solidFill>
                  <a:srgbClr val="666666"/>
                </a:solidFill>
                <a:latin typeface="Calibri"/>
              </a:rPr>
              <a:t> A defense giving up more yards each week. An offense that just found its rhythm. A team coming off a bye after three straight losses. The summary says "average." The trajectory says "momentum." 6% of games — small, but structurally distinct.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All three fail at big spreads → Something happened we couldn't see.</a:t>
            </a:r>
            <a:r>
              <a:rPr sz="1500" b="0">
                <a:solidFill>
                  <a:srgbClr val="666666"/>
                </a:solidFill>
                <a:latin typeface="Calibri"/>
              </a:rPr>
              <a:t> A QB injury at warmups. A team resting starters with a playoff bye locked up. A locker room that imploded Tuesday. No historical stat captures game-day surprises.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All three fail at small spreads → A coin flip that landed tails.</a:t>
            </a:r>
            <a:r>
              <a:rPr sz="1500" b="0">
                <a:solidFill>
                  <a:srgbClr val="666666"/>
                </a:solidFill>
                <a:latin typeface="Calibri"/>
              </a:rPr>
              <a:t> 3-point games are toss-ups. A tipped pass, a missed field goal, a bad spot on 4th-and-inches. Every model knew it was close. No one can predict which way close games break.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Momentum Is Real — but It Doesn't Stay the Same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The LSTM matched the other models in training but showed the largest drop on truly future data. That's not a failure — it's a finding.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In the training era (2005-2022):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LSTM AUC .641 — statistically tied with LR (.650) and XGB (.638)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The temporal signal is real: it adds value to the ensemble and its exclusive catches double when the spread is removed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Momentum patterns from this era — hot streaks, schedule fatigue, form trajectories — are genuinely predictive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In the future (2023-2025):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LSTM drops to .524 — largest gap of any model (-.117)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It trails LR and XGB in all three test seasons. Not one weird year — persistent.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The correlation between LSTM and the static models collapses: .78 → .43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What this means about the NFL: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Momentum patterns are </a:t>
            </a:r>
            <a:r>
              <a:rPr sz="1500" b="1">
                <a:solidFill>
                  <a:srgbClr val="666666"/>
                </a:solidFill>
                <a:latin typeface="Calibri"/>
              </a:rPr>
              <a:t>era-specific</a:t>
            </a:r>
            <a:r>
              <a:rPr sz="1500" b="0">
                <a:solidFill>
                  <a:srgbClr val="666666"/>
                </a:solidFill>
                <a:latin typeface="Calibri"/>
              </a:rPr>
              <a:t>. How a hot streak translated into upset probability in 2015 doesn't translate the same way in 2024. Coaching changes, rule changes, the way offenses evolve — the temporal dynamics of the NFL shift faster than the static relationships. That's a finding about the sport.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What the Spread Ablation Tells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The spread is the answer sheet. When I took it away, I found out who was actually learning and who was just copying.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LR lost .079 AUC, XGBoost lost .072, LSTM lost .067. All statistically significant.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LR's biggest coefficient? The spread itself — 5x larger than any team stat. The "model" was mostly just reading the market's homework.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But the LSTM kept the most signal.</a:t>
            </a:r>
            <a:r>
              <a:rPr sz="1500" b="0">
                <a:solidFill>
                  <a:srgbClr val="666666"/>
                </a:solidFill>
                <a:latin typeface="Calibri"/>
              </a:rPr>
              <a:t> Without the spread, the ranking flips: LSTM (.574) &gt; LR (.571) &gt; XGB (.566). The Movie captures something real that the market encodes differently than raw trajectory.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Model agreement collapsed: LR-XGB correlation .874 → .742, XGB-LSTM .699 → .419. The spread was the shared anchor. Without it, the architectures scatter — revealing how differently they actually read the game.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LSTM-exclusive catches </a:t>
            </a:r>
            <a:r>
              <a:rPr sz="1500" b="1">
                <a:solidFill>
                  <a:srgbClr val="666666"/>
                </a:solidFill>
                <a:latin typeface="Calibri"/>
              </a:rPr>
              <a:t>doubled</a:t>
            </a:r>
            <a:r>
              <a:rPr sz="1500" b="0">
                <a:solidFill>
                  <a:srgbClr val="666666"/>
                </a:solidFill>
                <a:latin typeface="Calibri"/>
              </a:rPr>
              <a:t> without spread (12 → 33 upsets). The betting line was masking genuine temporal signal.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Bottom line:</a:t>
            </a:r>
            <a:r>
              <a:rPr sz="1500" b="0">
                <a:solidFill>
                  <a:srgbClr val="666666"/>
                </a:solidFill>
                <a:latin typeface="Calibri"/>
              </a:rPr>
              <a:t> The market is good. Oddsmakers have already digested everything in publicly available stats. But the LSTM finds something the line encodes differently — trajectory, momentum, the shape of recent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Why Disagreement Proves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Three models. Same data. Different architectures. If upsets were random, they'd fail randomly. They don't.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The Summary and The Details agree on 87% of predictions.</a:t>
            </a:r>
            <a:r>
              <a:rPr sz="1500" b="0">
                <a:solidFill>
                  <a:srgbClr val="666666"/>
                </a:solidFill>
                <a:latin typeface="Calibri"/>
              </a:rPr>
              <a:t> When the static picture is clear — one team is better on paper — both linear and non-linear models see it. When they're both wrong, the upset came from outside the numbers.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The Movie tells a different story — and it depends on context.</a:t>
            </a:r>
            <a:r>
              <a:rPr sz="1500" b="0">
                <a:solidFill>
                  <a:srgbClr val="666666"/>
                </a:solidFill>
                <a:latin typeface="Calibri"/>
              </a:rPr>
              <a:t> In close games, the LSTM corrects the other two: "the stats say upset, but watch the trajectory — this team is fading." In bigger mismatches, it catches what they miss: "the numbers say no, but this team has been building for three weeks."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Remove the betting line and the masks come off.</a:t>
            </a:r>
            <a:r>
              <a:rPr sz="1500" b="0">
                <a:solidFill>
                  <a:srgbClr val="666666"/>
                </a:solidFill>
                <a:latin typeface="Calibri"/>
              </a:rPr>
              <a:t> The spread was the anchor — the thing all three models leaned on. Without it, agreement collapses, the LSTM's unique signal doubles, and the three architectures reveal how differently they actually read the game.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Momentum is real, but it changes shape.</a:t>
            </a:r>
            <a:r>
              <a:rPr sz="1500" b="0">
                <a:solidFill>
                  <a:srgbClr val="666666"/>
                </a:solidFill>
                <a:latin typeface="Calibri"/>
              </a:rPr>
              <a:t> The LSTM finds temporal patterns that improve predictions during training. But the NFL evolves — coaching, rules, offensive philosophy — and those patterns don't stay the same. That tells us something about the sport itself: </a:t>
            </a:r>
            <a:r>
              <a:rPr sz="1500" b="1">
                <a:solidFill>
                  <a:srgbClr val="666666"/>
                </a:solidFill>
                <a:latin typeface="Calibri"/>
              </a:rPr>
              <a:t>momentum matters, but its signature shifts.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Small cell sizes in spread strata:</a:t>
            </a:r>
            <a:r>
              <a:rPr sz="1500" b="0">
                <a:solidFill>
                  <a:srgbClr val="666666"/>
                </a:solidFill>
                <a:latin typeface="Calibri"/>
              </a:rPr>
              <a:t> The LSTM inversion (false-alarm filter → upset detector) rests on 12 medium-spread exclusives. Striking pattern, but limited formal significance within strata.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Calibration artifacts:</a:t>
            </a:r>
            <a:r>
              <a:rPr sz="1500" b="0">
                <a:solidFill>
                  <a:srgbClr val="666666"/>
                </a:solidFill>
                <a:latin typeface="Calibri"/>
              </a:rPr>
              <a:t> Platt calibration compresses test probabilities to [0.19, 0.51], inflating threshold-based disagreement. Primary analyses use uncalibrated CV predictions; rank-based (Top-K) analysis used for test set.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Sample size:</a:t>
            </a:r>
            <a:r>
              <a:rPr sz="1500" b="0">
                <a:solidFill>
                  <a:srgbClr val="666666"/>
                </a:solidFill>
                <a:latin typeface="Calibri"/>
              </a:rPr>
              <a:t> 3,495 training games, 558 test games. NFL produces ~270 games/season. Per-season results based on 181-192 games each.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Feature scope:</a:t>
            </a:r>
            <a:r>
              <a:rPr sz="1500" b="0">
                <a:solidFill>
                  <a:srgbClr val="666666"/>
                </a:solidFill>
                <a:latin typeface="Calibri"/>
              </a:rPr>
              <a:t> No player-level data, injury reports, weather forecasts, or motivational factors. The "hidden information" category is partly a data availability limitation.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Single sport:</a:t>
            </a:r>
            <a:r>
              <a:rPr sz="1500" b="0">
                <a:solidFill>
                  <a:srgbClr val="666666"/>
                </a:solidFill>
                <a:latin typeface="Calibri"/>
              </a:rPr>
              <a:t> NFL has specific structural properties (17-game seasons, high variance, dominant betting market). The disagreement framework generalizes; the specific taxonomy is NFL-specific.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Conclusion: Model Failure Is Diagnostic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4E9EAD"/>
                </a:solidFill>
                <a:latin typeface="Calibri"/>
              </a:rPr>
              <a:t>Instead of asking which model predicts best, I used the structure of their disagreements to diagnose why NFL outcomes happen.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The big idea: </a:t>
            </a:r>
            <a:r>
              <a:rPr sz="1400" b="1">
                <a:solidFill>
                  <a:srgbClr val="666666"/>
                </a:solidFill>
                <a:latin typeface="Calibri"/>
              </a:rPr>
              <a:t>when structurally different models fail on different games, the pattern of failure reveals the mechanism behind the outcome.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That's what this study found. NFL upsets are not random — they are driven by at least four distinct mechanisms, each visible through a different lens: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Static mismatch</a:t>
            </a:r>
            <a:r>
              <a:rPr sz="1400" b="0">
                <a:solidFill>
                  <a:srgbClr val="666666"/>
                </a:solidFill>
                <a:latin typeface="Calibri"/>
              </a:rPr>
              <a:t> — all three models agree. The game was readable from any angle: summary stats, feature interactions, and trajectories all pointed the same way. The market prices these well. (~45% of games)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Temporal momentum</a:t>
            </a:r>
            <a:r>
              <a:rPr sz="1400" b="0">
                <a:solidFill>
                  <a:srgbClr val="666666"/>
                </a:solidFill>
                <a:latin typeface="Calibri"/>
              </a:rPr>
              <a:t> — only the LSTM sees it. Something was changing week-to-week that snapshots missed. And the LSTM's role </a:t>
            </a:r>
            <a:r>
              <a:rPr sz="1400" b="1">
                <a:solidFill>
                  <a:srgbClr val="666666"/>
                </a:solidFill>
                <a:latin typeface="Calibri"/>
              </a:rPr>
              <a:t>inverts by context</a:t>
            </a:r>
            <a:r>
              <a:rPr sz="1400" b="0">
                <a:solidFill>
                  <a:srgbClr val="666666"/>
                </a:solidFill>
                <a:latin typeface="Calibri"/>
              </a:rPr>
              <a:t>: at close spreads it filters false alarms (92%); at bigger spreads it detects real upsets (83%). That context-dependence proves the signal is structural, not noise. (~6% of games)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Hidden information</a:t>
            </a:r>
            <a:r>
              <a:rPr sz="1400" b="0">
                <a:solidFill>
                  <a:srgbClr val="666666"/>
                </a:solidFill>
                <a:latin typeface="Calibri"/>
              </a:rPr>
              <a:t> — every model fails on a big favorite. The cause was a game-day injury, motivation, or scheme change — outside the data. (~24% of all_wrong at medium/large spreads)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Irreducible variance</a:t>
            </a:r>
            <a:r>
              <a:rPr sz="1400" b="0">
                <a:solidFill>
                  <a:srgbClr val="666666"/>
                </a:solidFill>
                <a:latin typeface="Calibri"/>
              </a:rPr>
              <a:t> — every model fails on a close game. A coin flip. (~76% of all_wrong at small spreads)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No single model reveals this structure. You need the disagreement.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Make the taxonomy sharper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Add </a:t>
            </a:r>
            <a:r>
              <a:rPr sz="1500" b="1">
                <a:solidFill>
                  <a:srgbClr val="666666"/>
                </a:solidFill>
                <a:latin typeface="Calibri"/>
              </a:rPr>
              <a:t>game-day data</a:t>
            </a:r>
            <a:r>
              <a:rPr sz="1500" b="0">
                <a:solidFill>
                  <a:srgbClr val="666666"/>
                </a:solidFill>
                <a:latin typeface="Calibri"/>
              </a:rPr>
              <a:t> — injuries, weather, motivation — to shrink the "hidden information" bucket. If those upsets become explainable, the taxonomy tightens.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Give the LSTM </a:t>
            </a:r>
            <a:r>
              <a:rPr sz="1500" b="1">
                <a:solidFill>
                  <a:srgbClr val="666666"/>
                </a:solidFill>
                <a:latin typeface="Calibri"/>
              </a:rPr>
              <a:t>player-level trajectories</a:t>
            </a:r>
            <a:r>
              <a:rPr sz="1500" b="0">
                <a:solidFill>
                  <a:srgbClr val="666666"/>
                </a:solidFill>
                <a:latin typeface="Calibri"/>
              </a:rPr>
              <a:t> instead of team averages. A team's momentum might really be one player getting healthy — the LSTM should see that.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Retrain on rolling windows</a:t>
            </a:r>
            <a:r>
              <a:rPr sz="1500" b="0">
                <a:solidFill>
                  <a:srgbClr val="666666"/>
                </a:solidFill>
                <a:latin typeface="Calibri"/>
              </a:rPr>
              <a:t> so the momentum patterns stay current. The NFL of 2015 is not the NFL of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Export 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NBA</a:t>
            </a:r>
            <a:r>
              <a:rPr sz="1500" b="0">
                <a:solidFill>
                  <a:srgbClr val="666666"/>
                </a:solidFill>
                <a:latin typeface="Calibri"/>
              </a:rPr>
              <a:t> has 82-game seasons and less per-game variance — more data, cleaner signal. Does the LSTM's temporal role survive with more games per season?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Medical diagnosis</a:t>
            </a:r>
            <a:r>
              <a:rPr sz="1500" b="0">
                <a:solidFill>
                  <a:srgbClr val="666666"/>
                </a:solidFill>
                <a:latin typeface="Calibri"/>
              </a:rPr>
              <a:t> already uses structurally different tests (MRI vs. biopsy vs. bloodwork). The same disagreement × context logic could categorize diagnostic failures.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Financial prediction</a:t>
            </a:r>
            <a:r>
              <a:rPr sz="1500" b="0">
                <a:solidFill>
                  <a:srgbClr val="666666"/>
                </a:solidFill>
                <a:latin typeface="Calibri"/>
              </a:rPr>
              <a:t> — market crashes have different mechanisms too. Which model fails tells you whether it was momentum, fundamentals, or a black swan.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9EAD"/>
                </a:solidFill>
                <a:latin typeface="Calibri"/>
              </a:rPr>
              <a:t>The reframe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Stop asking </a:t>
            </a:r>
            <a:r>
              <a:rPr sz="1600" b="1">
                <a:solidFill>
                  <a:srgbClr val="666666"/>
                </a:solidFill>
                <a:latin typeface="Calibri"/>
              </a:rPr>
              <a:t>"which model is best."</a:t>
            </a:r>
            <a:r>
              <a:rPr sz="1600" b="0">
                <a:solidFill>
                  <a:srgbClr val="666666"/>
                </a:solidFill>
                <a:latin typeface="Calibri"/>
              </a:rPr>
              <a:t> Start asking </a:t>
            </a:r>
            <a:r>
              <a:rPr sz="1600" b="1">
                <a:solidFill>
                  <a:srgbClr val="666666"/>
                </a:solidFill>
                <a:latin typeface="Calibri"/>
              </a:rPr>
              <a:t>"what do their disagreements tell me about the problem?"</a:t>
            </a:r>
            <a:r>
              <a:rPr sz="1600" b="0">
                <a:solidFill>
                  <a:srgbClr val="666666"/>
                </a:solidFill>
                <a:latin typeface="Calibri"/>
              </a:rPr>
              <a:t> The models aren't competing. They're diagnostic instruments.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33333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0800"/>
          </a:xfrm>
          <a:prstGeom prst="rect">
            <a:avLst/>
          </a:prstGeom>
          <a:solidFill>
            <a:srgbClr val="4E9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Boulier, B. L., &amp; Stekler, H. O. (2003). Predicting the outcomes of NFL games. International Journal of Forecasting, 19(2), 257-270.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Dietterich, T. G. (2000). Ensemble methods in machine learning. MCS 2000, LNCS 1857.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Glickman, M. E., &amp; Stern, H. S. (1998). A state-space model for NFL scores. JASA, 93(441), 25-35.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Gordon, M. L., et al. (2021). Disagreement deconstructed. CHI '21.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Grinsztajn, L., Oyallon, E., &amp; Varoquaux, G. (2022). Why do tree-based models still outperform deep learning on typical tabular data? NeurIPS 35.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Hubacek, O., Sourek, G., &amp; Zelezny, F. (2019). Exploiting sports-betting market using ML. IJF, 35(2), 783-796.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Krogh, A., &amp; Vedelsby, J. (1995). Neural network ensembles, cross validation, and active learning. NIPS 7.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Lakshminarayanan, B., Pritzel, A., &amp; Blundell, C. (2017). Simple and scalable predictive uncertainty estimation using deep ensembles. NeurIPS 30.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Wilkens, S. (2021). Sports prediction and betting models in the ML age. J Sports Analytics, 7(2).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