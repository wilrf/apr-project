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333333"/>
                </a:solidFill>
                <a:latin typeface="Calibri"/>
              </a:rPr>
              <a:t>The Anatomy
of NFL Upsets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657600"/>
            <a:ext cx="2286000" cy="50800"/>
          </a:xfrm>
          <a:prstGeom prst="rect">
            <a:avLst/>
          </a:prstGeom>
          <a:solidFill>
            <a:srgbClr val="4E9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4E9EAD"/>
                </a:solidFill>
              </a:rPr>
              <a:t>How Three ML Architectures Disagree Reveals Why Upsets Happen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99999"/>
                </a:solidFill>
                <a:latin typeface="Calibri"/>
              </a:rPr>
              <a:t>Wil Fowler  |  AP Research  | 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Calibri"/>
              </a:rPr>
              <a:t>Key Terms You Need to Know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011680" cy="50800"/>
          </a:xfrm>
          <a:prstGeom prst="rect">
            <a:avLst/>
          </a:prstGeom>
          <a:solidFill>
            <a:srgbClr val="4E9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4E9EAD"/>
                </a:solidFill>
              </a:rPr>
              <a:t>These terms appear throughout. Bookmark this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b="1" sz="1500">
                <a:solidFill>
                  <a:srgbClr val="666666"/>
                </a:solidFill>
              </a:rPr>
              <a:t>AUC (Area Under the Curve): </a:t>
            </a:r>
            <a:r>
              <a:rPr b="0" sz="1500">
                <a:solidFill>
                  <a:srgbClr val="666666"/>
                </a:solidFill>
              </a:rPr>
              <a:t>How well a model ranks outcomes from 0 to 1. Random guessing = 0.50, perfect = 1.0. Think of it as a letter grade for predictions.</a:t>
            </a:r>
          </a:p>
          <a:p>
            <a:r>
              <a:rPr b="1" sz="1500">
                <a:solidFill>
                  <a:srgbClr val="666666"/>
                </a:solidFill>
              </a:rPr>
              <a:t>p-value: </a:t>
            </a:r>
            <a:r>
              <a:rPr b="0" sz="1500">
                <a:solidFill>
                  <a:srgbClr val="666666"/>
                </a:solidFill>
              </a:rPr>
              <a:t>The probability a result happened by luck alone. Below .05 = statistically significant. Above .05 = might be coincidence.</a:t>
            </a:r>
          </a:p>
          <a:p>
            <a:r>
              <a:rPr b="1" sz="1500">
                <a:solidFill>
                  <a:srgbClr val="666666"/>
                </a:solidFill>
              </a:rPr>
              <a:t>Bootstrap Confidence Interval: </a:t>
            </a:r>
            <a:r>
              <a:rPr b="0" sz="1500">
                <a:solidFill>
                  <a:srgbClr val="666666"/>
                </a:solidFill>
              </a:rPr>
              <a:t>A range computed by resampling data thousands of times. If it contains zero, the difference isn't real.</a:t>
            </a:r>
          </a:p>
          <a:p>
            <a:r>
              <a:rPr b="1" sz="1500">
                <a:solidFill>
                  <a:srgbClr val="666666"/>
                </a:solidFill>
              </a:rPr>
              <a:t>Cross-Validation: </a:t>
            </a:r>
            <a:r>
              <a:rPr b="0" sz="1500">
                <a:solidFill>
                  <a:srgbClr val="666666"/>
                </a:solidFill>
              </a:rPr>
              <a:t>Train on past seasons, test on future ones. Prevents the model from memorizing answers it shouldn't know yet.</a:t>
            </a:r>
          </a:p>
          <a:p>
            <a:r>
              <a:rPr b="1" sz="1500">
                <a:solidFill>
                  <a:srgbClr val="666666"/>
                </a:solidFill>
              </a:rPr>
              <a:t>LSTM (Long Short-Term Memory): </a:t>
            </a:r>
            <a:r>
              <a:rPr b="0" sz="1500">
                <a:solidFill>
                  <a:srgbClr val="666666"/>
                </a:solidFill>
              </a:rPr>
              <a:t>A neural network that reads games in order — week 1, then week 2, then week 3 — detecting momentum, streaks, and fatigue patterns.</a:t>
            </a:r>
          </a:p>
          <a:p>
            <a:r>
              <a:rPr b="1" sz="1500">
                <a:solidFill>
                  <a:srgbClr val="666666"/>
                </a:solidFill>
              </a:rPr>
              <a:t>Point Spread: </a:t>
            </a:r>
            <a:r>
              <a:rPr b="0" sz="1500">
                <a:solidFill>
                  <a:srgbClr val="666666"/>
                </a:solidFill>
              </a:rPr>
              <a:t>How many points oddsmakers expect the favorite to win by. A spread of 7 means the market expects about a touchdown margin.</a:t>
            </a:r>
          </a:p>
          <a:p>
            <a:r>
              <a:rPr b="1" sz="1500">
                <a:solidFill>
                  <a:srgbClr val="666666"/>
                </a:solidFill>
              </a:rPr>
              <a:t>Spread Ablation: </a:t>
            </a:r>
            <a:r>
              <a:rPr b="0" sz="1500">
                <a:solidFill>
                  <a:srgbClr val="666666"/>
                </a:solidFill>
              </a:rPr>
              <a:t>Removing the betting line from the models to test whether they learned something real or were just copying the market's homework.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Calibri"/>
              </a:rPr>
              <a:t>Research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011680" cy="50800"/>
          </a:xfrm>
          <a:prstGeom prst="rect">
            <a:avLst/>
          </a:prstGeom>
          <a:solidFill>
            <a:srgbClr val="4E9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4E9EAD"/>
                </a:solidFill>
              </a:rPr>
              <a:t>To what extent can disagreement patterns among logistic regression, XGBoost, and LSTM models, combined with spread ablation analysis, reveal distinct categories of NFL upsets?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b="0" sz="1500">
                <a:solidFill>
                  <a:srgbClr val="666666"/>
                </a:solidFill>
              </a:rPr>
              <a:t>An NFL upset occurs when a 3+ point underdog wins. That happens in roughly 29% of games — far more than most people think.</a:t>
            </a:r>
          </a:p>
          <a:p>
            <a:r>
              <a:rPr b="1" sz="1500">
                <a:solidFill>
                  <a:srgbClr val="666666"/>
                </a:solidFill>
              </a:rPr>
              <a:t>This is not a model competition. </a:t>
            </a:r>
            <a:r>
              <a:rPr b="0" sz="1500">
                <a:solidFill>
                  <a:srgbClr val="666666"/>
                </a:solidFill>
              </a:rPr>
              <a:t>We deliberately chose three architectures that process data differently, then used </a:t>
            </a:r>
            <a:r>
              <a:rPr b="1" sz="1500">
                <a:solidFill>
                  <a:srgbClr val="666666"/>
                </a:solidFill>
              </a:rPr>
              <a:t>where they agree and disagree as a diagnostic tool. </a:t>
            </a:r>
            <a:r>
              <a:rPr b="0" sz="1500">
                <a:solidFill>
                  <a:srgbClr val="666666"/>
                </a:solidFill>
              </a:rPr>
              <a:t>The contribution is a taxonomy of upset types, not a leaderboard.</a:t>
            </a:r>
          </a:p>
          <a:p>
            <a:r>
              <a:rPr b="0" sz="1500">
                <a:solidFill>
                  <a:srgbClr val="666666"/>
                </a:solidFill>
              </a:rPr>
              <a:t>Spread ablation removes betting-line data to answer a second question: are the models learning genuine signal, or just echoing what Vegas already knows?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Calibri"/>
              </a:rPr>
              <a:t>Literature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011680" cy="50800"/>
          </a:xfrm>
          <a:prstGeom prst="rect">
            <a:avLst/>
          </a:prstGeom>
          <a:solidFill>
            <a:srgbClr val="4E9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E9EAD"/>
                </a:solidFill>
                <a:latin typeface="Calibri"/>
              </a:rPr>
              <a:t>Sports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b="0" sz="1500">
                <a:solidFill>
                  <a:srgbClr val="666666"/>
                </a:solidFill>
              </a:rPr>
              <a:t>Simple statistical models remain competitive with complex ML for NFL prediction — accuracy gains have been marginal for decades (Boulier &amp; Stekler, 2003)</a:t>
            </a:r>
          </a:p>
          <a:p>
            <a:r>
              <a:rPr b="0" sz="1500">
                <a:solidFill>
                  <a:srgbClr val="666666"/>
                </a:solidFill>
              </a:rPr>
              <a:t>Tree-based models (XGBoost) dominate deep learning on standard tabular data, but that advantage disappears on sequential data (Grinsztajn et al., 2022)</a:t>
            </a:r>
          </a:p>
          <a:p>
            <a:r>
              <a:rPr b="0" sz="1500">
                <a:solidFill>
                  <a:srgbClr val="666666"/>
                </a:solidFill>
              </a:rPr>
              <a:t>LSTMs can capture time-dependent patterns in sports — momentum, streaks, trajectory — that static models structurally cannot (Huang &amp; Li, 2021)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E9EAD"/>
                </a:solidFill>
                <a:latin typeface="Calibri"/>
              </a:rPr>
              <a:t>Market Efficiency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b="0" sz="1500">
                <a:solidFill>
                  <a:srgbClr val="666666"/>
                </a:solidFill>
              </a:rPr>
              <a:t>NFL betting lines outperform both expert judgment and statistical models at prediction (Song et al., 2007; Wilkens, 2021)</a:t>
            </a:r>
          </a:p>
          <a:p>
            <a:r>
              <a:rPr b="0" sz="1500">
                <a:solidFill>
                  <a:srgbClr val="666666"/>
                </a:solidFill>
              </a:rPr>
              <a:t>Decorrelating predictions from bookmaker odds is essential — otherwise models just rediscover what the market already priced in (Hubacek et al., 2019)</a:t>
            </a:r>
          </a:p>
          <a:p>
            <a:r>
              <a:rPr b="0" sz="1500">
                <a:solidFill>
                  <a:srgbClr val="666666"/>
                </a:solidFill>
              </a:rPr>
              <a:t>Market inefficiencies exist in narrow contexts but are small and hard to exploit consistently (Boulier et al., 2006)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E9EAD"/>
                </a:solidFill>
                <a:latin typeface="Calibri"/>
              </a:rPr>
              <a:t>Model Disagreement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949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b="0" sz="1500">
                <a:solidFill>
                  <a:srgbClr val="666666"/>
                </a:solidFill>
              </a:rPr>
              <a:t>Per-instance model disagreement is an unbiased estimate of prediction uncertainty (Gordon et al., 2021)</a:t>
            </a:r>
          </a:p>
          <a:p>
            <a:r>
              <a:rPr b="0" sz="1500">
                <a:solidFill>
                  <a:srgbClr val="666666"/>
                </a:solidFill>
              </a:rPr>
              <a:t>Architecturally diverse models capture structurally different patterns in the same data (Dietterich, 2000)</a:t>
            </a:r>
          </a:p>
          <a:p>
            <a:r>
              <a:rPr b="1" sz="1500">
                <a:solidFill>
                  <a:srgbClr val="666666"/>
                </a:solidFill>
              </a:rPr>
              <a:t>No prior work uses model disagreement to categorize upsets into distinct types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333333"/>
                </a:solidFill>
              </a:rPr>
              <a:t>Three Blind Spots in the Literature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011680" cy="50800"/>
          </a:xfrm>
          <a:prstGeom prst="rect">
            <a:avLst/>
          </a:prstGeom>
          <a:solidFill>
            <a:srgbClr val="4E9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4E9EAD"/>
                </a:solidFill>
              </a:rPr>
              <a:t>No one has used model disagreement to classify NFL upsets into structurally distinct types.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b="1" sz="1500">
                <a:solidFill>
                  <a:srgbClr val="666666"/>
                </a:solidFill>
              </a:rPr>
              <a:t>1. All upsets are treated identically. </a:t>
            </a:r>
            <a:r>
              <a:rPr b="0" sz="1500">
                <a:solidFill>
                  <a:srgbClr val="666666"/>
                </a:solidFill>
              </a:rPr>
              <a:t>Prior research predicts wins and losses but never asks why a specific upset happened — whether it was driven by momentum, hidden information, or pure chance.</a:t>
            </a:r>
          </a:p>
          <a:p>
            <a:r>
              <a:rPr b="1" sz="1500">
                <a:solidFill>
                  <a:srgbClr val="666666"/>
                </a:solidFill>
              </a:rPr>
              <a:t>2. Disagreement is thrown away. </a:t>
            </a:r>
            <a:r>
              <a:rPr b="0" sz="1500">
                <a:solidFill>
                  <a:srgbClr val="666666"/>
                </a:solidFill>
              </a:rPr>
              <a:t>Ensemble research uses disagreement to improve accuracy (average the models, pick the majority). No one has used the pattern of disagreement itself as a diagnostic tool.</a:t>
            </a:r>
          </a:p>
          <a:p>
            <a:r>
              <a:rPr b="1" sz="1500">
                <a:solidFill>
                  <a:srgbClr val="666666"/>
                </a:solidFill>
              </a:rPr>
              <a:t>3. Market dependence is untested. </a:t>
            </a:r>
            <a:r>
              <a:rPr b="0" sz="1500">
                <a:solidFill>
                  <a:srgbClr val="666666"/>
                </a:solidFill>
              </a:rPr>
              <a:t>No study has checked whether prediction models learn independent signal or simply echo what the betting line already encodes.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Calibri"/>
              </a:rPr>
              <a:t>Method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011680" cy="50800"/>
          </a:xfrm>
          <a:prstGeom prst="rect">
            <a:avLst/>
          </a:prstGeom>
          <a:solidFill>
            <a:srgbClr val="4E9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4E9EAD"/>
                </a:solidFill>
                <a:latin typeface="Calibri"/>
              </a:rPr>
              <a:t>Quantitative, quasi-experimental with observational data and ablation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500">
                <a:solidFill>
                  <a:srgbClr val="666666"/>
                </a:solidFill>
              </a:rPr>
              <a:t>1. Collect: </a:t>
            </a:r>
            <a:r>
              <a:rPr b="0" sz="1500">
                <a:solidFill>
                  <a:srgbClr val="666666"/>
                </a:solidFill>
              </a:rPr>
              <a:t>18 NFL regular seasons (2005–2022) for training. Hold out 2023–2025 as a blind test set the models never see during development.</a:t>
            </a:r>
          </a:p>
          <a:p/>
          <a:p>
            <a:r>
              <a:rPr b="1" sz="1500">
                <a:solidFill>
                  <a:srgbClr val="666666"/>
                </a:solidFill>
              </a:rPr>
              <a:t>2. Represent: </a:t>
            </a:r>
            <a:r>
              <a:rPr b="0" sz="1500">
                <a:solidFill>
                  <a:srgbClr val="666666"/>
                </a:solidFill>
              </a:rPr>
              <a:t>Give each model the same underlying data in a different form — like three analysts watching the same games but reading different scouting reports:</a:t>
            </a:r>
          </a:p>
          <a:p>
            <a:r>
              <a:rPr b="0" sz="1500">
                <a:solidFill>
                  <a:srgbClr val="666666"/>
                </a:solidFill>
              </a:rPr>
              <a:t>     LR reads "The Summary" (46 stats). XGB reads "The Details" (70 features with game-by-game lags). LSTM watches "The Movie" (raw 8-game sequences).</a:t>
            </a:r>
          </a:p>
          <a:p/>
          <a:p>
            <a:r>
              <a:rPr b="1" sz="1500">
                <a:solidFill>
                  <a:srgbClr val="666666"/>
                </a:solidFill>
              </a:rPr>
              <a:t>3. Train identically: </a:t>
            </a:r>
            <a:r>
              <a:rPr b="0" sz="1500">
                <a:solidFill>
                  <a:srgbClr val="666666"/>
                </a:solidFill>
              </a:rPr>
              <a:t>All three models see the same folds (6-fold expanding-window CV). Same data, same splits. When they disagree, it's the architecture — not the data.</a:t>
            </a:r>
          </a:p>
          <a:p/>
          <a:p>
            <a:r>
              <a:rPr b="1" sz="1500">
                <a:solidFill>
                  <a:srgbClr val="666666"/>
                </a:solidFill>
              </a:rPr>
              <a:t>4. Diagnose: </a:t>
            </a:r>
            <a:r>
              <a:rPr b="0" sz="1500">
                <a:solidFill>
                  <a:srgbClr val="666666"/>
                </a:solidFill>
              </a:rPr>
              <a:t>Classify every game by which models got it right and which didn't. The pattern of agreement and disagreement is the diagnostic instrument.</a:t>
            </a:r>
          </a:p>
          <a:p/>
          <a:p>
            <a:r>
              <a:rPr b="1" sz="1500">
                <a:solidFill>
                  <a:srgbClr val="666666"/>
                </a:solidFill>
              </a:rPr>
              <a:t>5. Ablate: </a:t>
            </a:r>
            <a:r>
              <a:rPr b="0" sz="1500">
                <a:solidFill>
                  <a:srgbClr val="666666"/>
                </a:solidFill>
              </a:rPr>
              <a:t>Remove the point spread and rerun everything. If a model collapses, it was just reading the market's homework. If it holds, it learned something real.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Calibri"/>
              </a:rPr>
              <a:t>Data &amp; Multi-Representation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011680" cy="50800"/>
          </a:xfrm>
          <a:prstGeom prst="rect">
            <a:avLst/>
          </a:prstGeom>
          <a:solidFill>
            <a:srgbClr val="4E9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E9EAD"/>
                </a:solidFill>
                <a:latin typeface="Calibri"/>
              </a:rP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Training: 3,495 games (2005-2022)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Test: 558 games (2023-2025)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Upset-eligible: spread of 3+ points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Base rate: ~30% upsets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347472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011680"/>
                <a:gridCol w="1097280"/>
                <a:gridCol w="60350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Representation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Features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Sees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LR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"The Summary"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Rolling averages, differentials, market, Elo</a:t>
                      </a:r>
                    </a:p>
                  </a:txBody>
                  <a:tcPr anchor="ctr"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"The Details"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LR's 46 + 24 per-game lag stats (last 3 games)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LSTM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"The Movie"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14×8 + 10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Raw game-by-game sequences + matchup context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1206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E9EAD"/>
                </a:solidFill>
                <a:latin typeface="Calibri"/>
              </a:rPr>
              <a:t>Why these three?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500">
                <a:solidFill>
                  <a:srgbClr val="666666"/>
                </a:solidFill>
              </a:rPr>
              <a:t>Each model has a structural blind spot, and that's the point. </a:t>
            </a:r>
            <a:r>
              <a:rPr b="0" sz="1500">
                <a:solidFill>
                  <a:srgbClr val="666666"/>
                </a:solidFill>
              </a:rPr>
              <a:t>LR sees only linear relationships — is the spread simply mispriced? XGBoost captures feature interactions — does a bad recent game + short week + road trip = danger? LSTM reads trajectories — is a team rising or falling apart? When they disagree, the architecture tells you the mechanism.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333333"/>
                </a:solidFill>
              </a:rPr>
              <a:t>All Three Models Are Statistically Tied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011680" cy="50800"/>
          </a:xfrm>
          <a:prstGeom prst="rect">
            <a:avLst/>
          </a:prstGeom>
          <a:solidFill>
            <a:srgbClr val="4E9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463040"/>
          <a:ext cx="8778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01168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Brier Score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Log Loss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.650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.197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.581</a:t>
                      </a:r>
                    </a:p>
                  </a:txBody>
                  <a:tcPr anchor="ctr"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LSTM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.641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.199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.583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.638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.199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.586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3108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999999"/>
                </a:solidFill>
                <a:latin typeface="Calibri"/>
              </a:rPr>
              <a:t>6-fold expanding-window CV, validation years 2017-2022, N = 1,162 games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b="1" sz="1500">
                <a:solidFill>
                  <a:srgbClr val="666666"/>
                </a:solidFill>
              </a:rPr>
              <a:t>Bootstrap 95% CIs on every pairwise AUC difference contain zero. </a:t>
            </a:r>
            <a:r>
              <a:rPr b="0" sz="1500">
                <a:solidFill>
                  <a:srgbClr val="666666"/>
                </a:solidFill>
              </a:rPr>
              <a:t>No model is significantly better than another. This is exactly what the framework needs — disagreement reflects different architectural perspectives, not quality gaps.</a:t>
            </a:r>
          </a:p>
          <a:p>
            <a:r>
              <a:rPr b="0" sz="1500">
                <a:solidFill>
                  <a:srgbClr val="666666"/>
                </a:solidFill>
              </a:rPr>
              <a:t>LR and XGBoost correlate at .874 — they largely agree. The LSTM correlates moderately with both (.784 with LR, .699 with XGB), confirming it captures partially independent information.</a:t>
            </a:r>
          </a:p>
          <a:p>
            <a:r>
              <a:rPr b="0" sz="1500">
                <a:solidFill>
                  <a:srgbClr val="666666"/>
                </a:solidFill>
              </a:rPr>
              <a:t>The lowest correlation is XGB–LSTM (.699): the greatest structural distance lies between interaction-based processing and sequence-based processing. </a:t>
            </a:r>
            <a:r>
              <a:rPr b="1" sz="1500">
                <a:solidFill>
                  <a:srgbClr val="666666"/>
                </a:solidFill>
              </a:rPr>
              <a:t>This is where disagreement will be most informative.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333333"/>
                </a:solidFill>
              </a:rPr>
              <a:t>Where Models Disagree Reveals the Mechanism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011680" cy="50800"/>
          </a:xfrm>
          <a:prstGeom prst="rect">
            <a:avLst/>
          </a:prstGeom>
          <a:solidFill>
            <a:srgbClr val="4E9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22960"/>
                <a:gridCol w="1463040"/>
                <a:gridCol w="1463040"/>
                <a:gridCol w="47548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% of Games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Upset Rate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All correct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528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45.4%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36.7%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Strong cross-architectural signal</a:t>
                      </a:r>
                    </a:p>
                  </a:txBody>
                  <a:tcPr anchor="ctr"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All wrong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340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29.3%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20.9%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Outside model capabilities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Only LSTM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5.6%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18.5%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Temporal signal (unique to LSTM)</a:t>
                      </a:r>
                    </a:p>
                  </a:txBody>
                  <a:tcPr anchor="ctr"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LR + XGB only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6.7%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29.5%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Static models agree, LSTM disagrees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Only XGB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4.1%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25.0%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Non-linear interaction pattern</a:t>
                      </a:r>
                    </a:p>
                  </a:txBody>
                  <a:tcPr anchor="ctr"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LR + LSTM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4.1%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33.3%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Linear + temporal agreement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Only LR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2.4%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28.6%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Linear spread mispricing</a:t>
                      </a:r>
                    </a:p>
                  </a:txBody>
                  <a:tcPr anchor="ctr"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XGB + LSTM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2.3%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33.3%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Non-linear + temporal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6634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999999"/>
                </a:solidFill>
                <a:latin typeface="Calibri"/>
              </a:rPr>
              <a:t>CV set: 1,162 games, threshold = base upset rate (~0.30)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b="0" sz="1500">
                <a:solidFill>
                  <a:srgbClr val="666666"/>
                </a:solidFill>
              </a:rPr>
              <a:t>74.7% of games fall into all-agree categories — either all three are right, or all three are wrong. The interesting games are in the 25.3% where they split.</a:t>
            </a:r>
          </a:p>
          <a:p>
            <a:r>
              <a:rPr b="1" sz="1500">
                <a:solidFill>
                  <a:srgbClr val="666666"/>
                </a:solidFill>
              </a:rPr>
              <a:t>Key finding: </a:t>
            </a:r>
            <a:r>
              <a:rPr b="0" sz="1500">
                <a:solidFill>
                  <a:srgbClr val="666666"/>
                </a:solidFill>
              </a:rPr>
              <a:t>Of 65 LSTM-exclusive games, </a:t>
            </a:r>
            <a:r>
              <a:rPr b="1" sz="1500">
                <a:solidFill>
                  <a:srgbClr val="666666"/>
                </a:solidFill>
              </a:rPr>
              <a:t>53 (81.5%) are non-upset rejections</a:t>
            </a:r>
            <a:r>
              <a:rPr b="0" sz="1500">
                <a:solidFill>
                  <a:srgbClr val="666666"/>
                </a:solidFill>
              </a:rPr>
              <a:t> — the LSTM says "no upset" when both LR and XGB say "upset." Only 12 are upsets the LSTM alone catches. This skew is statistically significant (binomial p = 0.029).</a:t>
            </a:r>
          </a:p>
          <a:p>
            <a:r>
              <a:rPr b="1" sz="1500">
                <a:solidFill>
                  <a:srgbClr val="666666"/>
                </a:solidFill>
              </a:rPr>
              <a:t>The LSTM's primary exclusive value is moderating false alarms, not detecting hidden upsets.</a:t>
            </a:r>
            <a:r>
              <a:rPr b="0" sz="1500">
                <a:solidFill>
                  <a:srgbClr val="666666"/>
                </a:solidFill>
              </a:rPr>
              <a:t> But this headline hides a deeper story — the next slide.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333333"/>
                </a:solidFill>
              </a:rPr>
              <a:t>Same Model, Opposite Jobs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011680" cy="50800"/>
          </a:xfrm>
          <a:prstGeom prst="rect">
            <a:avLst/>
          </a:prstGeom>
          <a:solidFill>
            <a:srgbClr val="4E9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4E9EAD"/>
                </a:solidFill>
              </a:rPr>
              <a:t>The LSTM's role inverts depending on the matchup context. This is the study's central finding.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01168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1828800"/>
                <a:gridCol w="2286000"/>
                <a:gridCol w="210312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Spread Bucket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LSTM Exclusives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Upsets Caught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Non-Upsets Rejected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Primary Role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Small (3-6.5 pts)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5 (8%)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55 (92%)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False-alarm filter</a:t>
                      </a:r>
                    </a:p>
                  </a:txBody>
                  <a:tcPr anchor="ctr"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Medium (7-13.5 pts)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10 (83%)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2 (17%)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Upset detector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Large (14+ pts)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No exclusive value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840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b="1" sz="1500">
                <a:solidFill>
                  <a:srgbClr val="666666"/>
                </a:solidFill>
              </a:rPr>
              <a:t>Close games (3–6.5 pts): </a:t>
            </a:r>
            <a:r>
              <a:rPr b="0" sz="1500">
                <a:solidFill>
                  <a:srgbClr val="666666"/>
                </a:solidFill>
              </a:rPr>
              <a:t>LR and XGB look at the stats and say "upset." The LSTM watches the last 8 games and says "no — this team's trajectory is wrong." It's right 92% of the time. The movie tells a different story than the snapshot.</a:t>
            </a:r>
          </a:p>
          <a:p>
            <a:r>
              <a:rPr b="1" sz="1500">
                <a:solidFill>
                  <a:srgbClr val="666666"/>
                </a:solidFill>
              </a:rPr>
              <a:t>Bigger underdogs (7–13.5 pts): </a:t>
            </a:r>
            <a:r>
              <a:rPr b="0" sz="1500">
                <a:solidFill>
                  <a:srgbClr val="666666"/>
                </a:solidFill>
              </a:rPr>
              <a:t>Now the LSTM flips. It spots a team building week by week — rising EPA, winning close games, gaining momentum. The summary stats say "no chance." The trajectory says "watch out." It catches 83% of these as real upsets.</a:t>
            </a:r>
          </a:p>
          <a:p>
            <a:r>
              <a:rPr b="1" sz="1500">
                <a:solidFill>
                  <a:srgbClr val="666666"/>
                </a:solidFill>
              </a:rPr>
              <a:t>The LSTM is not one instrument — it's two, and the spread determines which one you're hearing. </a:t>
            </a:r>
            <a:r>
              <a:rPr b="0" sz="1500">
                <a:solidFill>
                  <a:srgbClr val="666666"/>
                </a:solidFill>
              </a:rPr>
              <a:t>At close spreads it filters noise. At medium spreads it detects signal. That context-dependence proves the pattern is structural, not statistical noise.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333333"/>
                </a:solidFill>
              </a:rPr>
              <a:t>Removing the Answer Sheet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011680" cy="50800"/>
          </a:xfrm>
          <a:prstGeom prst="rect">
            <a:avLst/>
          </a:prstGeom>
          <a:solidFill>
            <a:srgbClr val="4E9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463040"/>
          <a:ext cx="8595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201168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AUC With Spread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AUC Without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Delta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LR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.650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.571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-.079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&lt; .001</a:t>
                      </a:r>
                    </a:p>
                  </a:txBody>
                  <a:tcPr anchor="ctr"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.638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.566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-.072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&lt; .001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LSTM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.641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.574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-.067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&lt; .001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2004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b="0" sz="1500">
                <a:solidFill>
                  <a:srgbClr val="666666"/>
                </a:solidFill>
              </a:rPr>
              <a:t>All three models depend heavily on the spread. Bootstrap CIs confirm every drop is statistically significant.</a:t>
            </a:r>
          </a:p>
          <a:p>
            <a:r>
              <a:rPr b="1" sz="1500">
                <a:solidFill>
                  <a:srgbClr val="666666"/>
                </a:solidFill>
              </a:rPr>
              <a:t>The ranking flips without spread: LSTM (.574) &gt; LR (.571) &gt; XGB (.566). </a:t>
            </a:r>
            <a:r>
              <a:rPr b="0" sz="1500">
                <a:solidFill>
                  <a:srgbClr val="666666"/>
                </a:solidFill>
              </a:rPr>
              <a:t>The LSTM degrades the least (−.067) and becomes the strongest model when forced to learn from game data alone.</a:t>
            </a:r>
          </a:p>
          <a:p>
            <a:r>
              <a:rPr b="0" sz="1500">
                <a:solidFill>
                  <a:srgbClr val="666666"/>
                </a:solidFill>
              </a:rPr>
              <a:t>But honesty matters: the LSTM's smaller delta is </a:t>
            </a:r>
            <a:r>
              <a:rPr b="1" sz="1500">
                <a:solidFill>
                  <a:srgbClr val="666666"/>
                </a:solidFill>
              </a:rPr>
              <a:t>not</a:t>
            </a:r>
            <a:r>
              <a:rPr b="0" sz="1500">
                <a:solidFill>
                  <a:srgbClr val="666666"/>
                </a:solidFill>
              </a:rPr>
              <a:t> statistically significant versus LR's delta — bootstrap CI contains zero. Suggestive, not proven.</a:t>
            </a:r>
          </a:p>
          <a:p>
            <a:r>
              <a:rPr b="0" sz="1500">
                <a:solidFill>
                  <a:srgbClr val="666666"/>
                </a:solidFill>
              </a:rPr>
              <a:t>Without spread, </a:t>
            </a:r>
            <a:r>
              <a:rPr b="1" sz="1500">
                <a:solidFill>
                  <a:srgbClr val="666666"/>
                </a:solidFill>
              </a:rPr>
              <a:t>LSTM-exclusive predictions double (5.6% → 11.0%)</a:t>
            </a:r>
            <a:r>
              <a:rPr b="0" sz="1500">
                <a:solidFill>
                  <a:srgbClr val="666666"/>
                </a:solidFill>
              </a:rPr>
              <a:t> and upsets caught jump from 12 to 33. The betting line was masking genuine temporal signal the whole time.</a:t>
            </a:r>
          </a:p>
          <a:p>
            <a:r>
              <a:rPr b="0" sz="1500">
                <a:solidFill>
                  <a:srgbClr val="666666"/>
                </a:solidFill>
              </a:rPr>
              <a:t>LR–XGB correlation drops from .874 to .742. The spread was the shared anchor holding model predictions together. </a:t>
            </a:r>
            <a:r>
              <a:rPr b="1" sz="1500">
                <a:solidFill>
                  <a:srgbClr val="666666"/>
                </a:solidFill>
              </a:rPr>
              <a:t>Remove it and the three architectures scatter — revealing how differently they actually read the game.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333333"/>
                </a:solidFill>
              </a:rPr>
              <a:t>The Honest Reckoning: Out-of-Sample 2023–2025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011680" cy="50800"/>
          </a:xfrm>
          <a:prstGeom prst="rect">
            <a:avLst/>
          </a:prstGeom>
          <a:solidFill>
            <a:srgbClr val="4E9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5943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CV AUC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Test AUC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.638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.576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-.062</a:t>
                      </a:r>
                    </a:p>
                  </a:txBody>
                  <a:tcPr anchor="ctr"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LR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.650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.562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-.088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LSTM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.641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.524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-.117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2344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4E9EAD"/>
                </a:solidFill>
                <a:latin typeface="Calibri"/>
              </a:rPr>
              <a:t>Top-K Hit Rates (base rate = 28.5%)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463040"/>
          <a:ext cx="5029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005840"/>
                <a:gridCol w="1005840"/>
                <a:gridCol w="100584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LR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XGB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LSTM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Ensemble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60%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40%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anchor="ctr"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40%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45%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45%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38%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44%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28%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34%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34747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b="1" sz="1500">
                <a:solidFill>
                  <a:srgbClr val="666666"/>
                </a:solidFill>
              </a:rPr>
              <a:t>The LSTM shows the largest generalization gap (−.117). </a:t>
            </a:r>
            <a:r>
              <a:rPr b="0" sz="1500">
                <a:solidFill>
                  <a:srgbClr val="666666"/>
                </a:solidFill>
              </a:rPr>
              <a:t>Temporal patterns learned from 2005–2022 do not fully transfer to 2023–2025. This is not one bad year — it trails in all three test seasons.</a:t>
            </a:r>
          </a:p>
          <a:p>
            <a:r>
              <a:rPr b="1" sz="1500">
                <a:solidFill>
                  <a:srgbClr val="666666"/>
                </a:solidFill>
              </a:rPr>
              <a:t>XGBoost generalizes best (−.062). </a:t>
            </a:r>
            <a:r>
              <a:rPr b="0" sz="1500">
                <a:solidFill>
                  <a:srgbClr val="666666"/>
                </a:solidFill>
              </a:rPr>
              <a:t>Non-linear interaction patterns are the most temporally stable signal in the data.</a:t>
            </a:r>
          </a:p>
          <a:p>
            <a:r>
              <a:rPr b="0" sz="1500">
                <a:solidFill>
                  <a:srgbClr val="666666"/>
                </a:solidFill>
              </a:rPr>
              <a:t>The LSTM's correlation with static models collapses on the test set: LR .784 → .429, XGB .699 → .408. It diverges most when the stakes are real.</a:t>
            </a:r>
          </a:p>
          <a:p>
            <a:r>
              <a:rPr b="1" sz="1500">
                <a:solidFill>
                  <a:srgbClr val="666666"/>
                </a:solidFill>
              </a:rPr>
              <a:t>XGBoost's top 10 predictions hit at 60% — 2.1× lift over base rate. </a:t>
            </a:r>
            <a:r>
              <a:rPr b="0" sz="1500">
                <a:solidFill>
                  <a:srgbClr val="666666"/>
                </a:solidFill>
              </a:rPr>
              <a:t>Signal concentrates in the highest-confidence predictions and fades fast.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Calibri"/>
              </a:rPr>
              <a:t>Not All Upsets Are Created Equal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011680" cy="50800"/>
          </a:xfrm>
          <a:prstGeom prst="rect">
            <a:avLst/>
          </a:prstGeom>
          <a:solidFill>
            <a:srgbClr val="4E9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4E9EAD"/>
                </a:solidFill>
                <a:latin typeface="Calibri"/>
              </a:rPr>
              <a:t>If upsets were random, every model would fail the same way. They don't. The pattern of who gets it right tells you why it happened.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b="1" sz="1500">
                <a:solidFill>
                  <a:srgbClr val="666666"/>
                </a:solidFill>
              </a:rPr>
              <a:t>All three agree → </a:t>
            </a:r>
            <a:r>
              <a:rPr b="0" sz="1500">
                <a:solidFill>
                  <a:srgbClr val="666666"/>
                </a:solidFill>
              </a:rPr>
              <a:t>The mismatch was visible from every angle. The Summary, The Details, and The Movie all told the same story. These are the structurally readable outcomes — and the market prices them well. 45% of games.</a:t>
            </a:r>
          </a:p>
          <a:p>
            <a:r>
              <a:rPr b="1" sz="1500">
                <a:solidFill>
                  <a:srgbClr val="666666"/>
                </a:solidFill>
              </a:rPr>
              <a:t>Only the LSTM sees it → </a:t>
            </a:r>
            <a:r>
              <a:rPr b="0" sz="1500">
                <a:solidFill>
                  <a:srgbClr val="666666"/>
                </a:solidFill>
              </a:rPr>
              <a:t>The movie told a story the snapshot couldn't. A defense leaking more yards each week. An offense finding its rhythm. A team building quietly after three straight losses. The summary says "average." The trajectory says "momentum." 6% of games — small, but structurally distinct and statistically confirmed.</a:t>
            </a:r>
          </a:p>
          <a:p>
            <a:r>
              <a:rPr b="1" sz="1500">
                <a:solidFill>
                  <a:srgbClr val="666666"/>
                </a:solidFill>
              </a:rPr>
              <a:t>All three miss big favorites → </a:t>
            </a:r>
            <a:r>
              <a:rPr b="0" sz="1500">
                <a:solidFill>
                  <a:srgbClr val="666666"/>
                </a:solidFill>
              </a:rPr>
              <a:t>Something happened outside the data. A QB injury during warmups. A team resting starters with a playoff bye locked up. A locker room that imploded on Tuesday. No historical stat captures game-day surprises. This is a data availability boundary, not a modeling failure.</a:t>
            </a:r>
          </a:p>
          <a:p>
            <a:r>
              <a:rPr b="1" sz="1500">
                <a:solidFill>
                  <a:srgbClr val="666666"/>
                </a:solidFill>
              </a:rPr>
              <a:t>All three miss close games → </a:t>
            </a:r>
            <a:r>
              <a:rPr b="0" sz="1500">
                <a:solidFill>
                  <a:srgbClr val="666666"/>
                </a:solidFill>
              </a:rPr>
              <a:t>A coin flip that landed tails. 3-point games are genuinely close. A tipped pass, a missed field goal, a bad spot on 4th-and-inches. Every model knew it was close. No pre-game model can predict which way close games break.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333333"/>
                </a:solidFill>
              </a:rPr>
              <a:t>Momentum Is Real — but the NFL Keeps Changing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011680" cy="50800"/>
          </a:xfrm>
          <a:prstGeom prst="rect">
            <a:avLst/>
          </a:prstGeom>
          <a:solidFill>
            <a:srgbClr val="4E9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4E9EAD"/>
                </a:solidFill>
              </a:rPr>
              <a:t>The LSTM matched the other models in training but showed the largest drop on truly future data. That's not a failure — it's a finding.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4E9EAD"/>
                </a:solidFill>
              </a:rPr>
              <a:t>In cross-validation (2005–2022):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b="0" sz="1500">
                <a:solidFill>
                  <a:srgbClr val="666666"/>
                </a:solidFill>
              </a:rPr>
              <a:t>LSTM AUC .641 — statistically tied with LR (.650) and XGB (.638)</a:t>
            </a:r>
          </a:p>
          <a:p>
            <a:r>
              <a:rPr b="0" sz="1500">
                <a:solidFill>
                  <a:srgbClr val="666666"/>
                </a:solidFill>
              </a:rPr>
              <a:t>The temporal signal is real: it adds ensemble value, and its exclusive catches double when the spread is removed</a:t>
            </a:r>
          </a:p>
          <a:p>
            <a:r>
              <a:rPr b="0" sz="1500">
                <a:solidFill>
                  <a:srgbClr val="666666"/>
                </a:solidFill>
              </a:rPr>
              <a:t>Momentum patterns from this era — streaks, fatigue, trajectory — are genuinely predictive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4E9EAD"/>
                </a:solidFill>
              </a:rPr>
              <a:t>On the test set (2023–2025):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b="0" sz="1500">
                <a:solidFill>
                  <a:srgbClr val="666666"/>
                </a:solidFill>
              </a:rPr>
              <a:t>LSTM drops to .524 — largest gap of any model (−.117)</a:t>
            </a:r>
          </a:p>
          <a:p>
            <a:r>
              <a:rPr b="0" sz="1500">
                <a:solidFill>
                  <a:srgbClr val="666666"/>
                </a:solidFill>
              </a:rPr>
              <a:t>It trails LR and XGB in all three test seasons. Not one weird year — persistent.</a:t>
            </a:r>
          </a:p>
          <a:p>
            <a:r>
              <a:rPr b="0" sz="1500">
                <a:solidFill>
                  <a:srgbClr val="666666"/>
                </a:solidFill>
              </a:rPr>
              <a:t>The correlation between LSTM and the static models collapses: .784 → .429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4E9EAD"/>
                </a:solidFill>
              </a:rPr>
              <a:t>What this means about the NFL: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0" sz="1500">
                <a:solidFill>
                  <a:srgbClr val="666666"/>
                </a:solidFill>
              </a:rPr>
              <a:t>Momentum patterns are era-specific. How a hot streak translated into upset probability in 2015 doesn't work the same way in 2024. Coaching changes, rule changes, the evolution of offenses — the temporal dynamics shift faster than the static relationships. </a:t>
            </a:r>
            <a:r>
              <a:rPr b="1" sz="1500">
                <a:solidFill>
                  <a:srgbClr val="666666"/>
                </a:solidFill>
              </a:rPr>
              <a:t>The LSTM's poor forward transfer is a finding about the sport, not just about the model.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333333"/>
                </a:solidFill>
              </a:rPr>
              <a:t>What the Spread Really Contributes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011680" cy="50800"/>
          </a:xfrm>
          <a:prstGeom prst="rect">
            <a:avLst/>
          </a:prstGeom>
          <a:solidFill>
            <a:srgbClr val="4E9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4E9EAD"/>
                </a:solidFill>
                <a:latin typeface="Calibri"/>
              </a:rPr>
              <a:t>The spread is the answer sheet. When I took it away, I found out who was actually learning and who was just copying.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b="0" sz="1500">
                <a:solidFill>
                  <a:srgbClr val="666666"/>
                </a:solidFill>
              </a:rPr>
              <a:t>LR lost .079 AUC, XGBoost lost .072, LSTM lost .067. All highly significant (p &lt; .001). </a:t>
            </a:r>
            <a:r>
              <a:rPr b="1" sz="1500">
                <a:solidFill>
                  <a:srgbClr val="666666"/>
                </a:solidFill>
              </a:rPr>
              <a:t>The spread contains more predictive information than all other team statistics combined.</a:t>
            </a:r>
          </a:p>
          <a:p>
            <a:r>
              <a:rPr b="0" sz="1500">
                <a:solidFill>
                  <a:srgbClr val="666666"/>
                </a:solidFill>
              </a:rPr>
              <a:t>LR's largest coefficient is the spread itself — 5× bigger than any team stat. The "model" was mostly reading the market's homework.</a:t>
            </a:r>
          </a:p>
          <a:p>
            <a:r>
              <a:rPr b="1" sz="1500">
                <a:solidFill>
                  <a:srgbClr val="666666"/>
                </a:solidFill>
              </a:rPr>
              <a:t>But the LSTM kept the most signal. </a:t>
            </a:r>
            <a:r>
              <a:rPr b="0" sz="1500">
                <a:solidFill>
                  <a:srgbClr val="666666"/>
                </a:solidFill>
              </a:rPr>
              <a:t>Without spread, it becomes the strongest model (.574 &gt; .571 &gt; .566). The trajectory captures something the market line encodes differently — not better, differently.</a:t>
            </a:r>
          </a:p>
          <a:p>
            <a:r>
              <a:rPr b="0" sz="1500">
                <a:solidFill>
                  <a:srgbClr val="666666"/>
                </a:solidFill>
              </a:rPr>
              <a:t>Model agreement collapsed: LR–XGB correlation .874 → .742, XGB–LSTM .699 → .419. </a:t>
            </a:r>
            <a:r>
              <a:rPr b="1" sz="1500">
                <a:solidFill>
                  <a:srgbClr val="666666"/>
                </a:solidFill>
              </a:rPr>
              <a:t>The spread was the glue. Remove it and the three architectures reveal how differently they actually read the game.</a:t>
            </a:r>
          </a:p>
          <a:p>
            <a:r>
              <a:rPr b="0" sz="1500">
                <a:solidFill>
                  <a:srgbClr val="666666"/>
                </a:solidFill>
              </a:rPr>
              <a:t>LSTM-exclusive catches doubled without spread (12 → 33 upsets). The betting line was masking genuine temporal signal.</a:t>
            </a:r>
          </a:p>
          <a:p>
            <a:r>
              <a:rPr b="1" sz="1500">
                <a:solidFill>
                  <a:srgbClr val="666666"/>
                </a:solidFill>
              </a:rPr>
              <a:t>Bottom line: </a:t>
            </a:r>
            <a:r>
              <a:rPr b="0" sz="1500">
                <a:solidFill>
                  <a:srgbClr val="666666"/>
                </a:solidFill>
              </a:rPr>
              <a:t>the market is extremely good. Oddsmakers have already digested everything in publicly available statistics. But sequential processing captures information that the point spread encodes through a different mechanism.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333333"/>
                </a:solidFill>
              </a:rPr>
              <a:t>Why Disagreement Is the Contribution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011680" cy="50800"/>
          </a:xfrm>
          <a:prstGeom prst="rect">
            <a:avLst/>
          </a:prstGeom>
          <a:solidFill>
            <a:srgbClr val="4E9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4E9EAD"/>
                </a:solidFill>
              </a:rPr>
              <a:t>Three models. Same data. Different architectures. If upsets were random, the models would fail randomly. They don't.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b="1" sz="1500">
                <a:solidFill>
                  <a:srgbClr val="666666"/>
                </a:solidFill>
              </a:rPr>
              <a:t>The Summary and The Details agree 87% of the time. </a:t>
            </a:r>
            <a:r>
              <a:rPr b="0" sz="1500">
                <a:solidFill>
                  <a:srgbClr val="666666"/>
                </a:solidFill>
              </a:rPr>
              <a:t>When the static picture is clear — one team is better on paper — both linear and non-linear models see it. When they're both wrong, the cause is outside the numbers.</a:t>
            </a:r>
          </a:p>
          <a:p>
            <a:r>
              <a:rPr b="1" sz="1500">
                <a:solidFill>
                  <a:srgbClr val="666666"/>
                </a:solidFill>
              </a:rPr>
              <a:t>The Movie tells a different story — and which story depends on context. </a:t>
            </a:r>
            <a:r>
              <a:rPr b="0" sz="1500">
                <a:solidFill>
                  <a:srgbClr val="666666"/>
                </a:solidFill>
              </a:rPr>
              <a:t>In close games, the LSTM corrects the others: "the stats say upset, but watch the trajectory — this team is fading." In bigger mismatches, it catches what they miss: "the numbers say no, but this team has been building for three weeks."</a:t>
            </a:r>
          </a:p>
          <a:p>
            <a:r>
              <a:rPr b="1" sz="1500">
                <a:solidFill>
                  <a:srgbClr val="666666"/>
                </a:solidFill>
              </a:rPr>
              <a:t>Remove the betting line and the masks come off. </a:t>
            </a:r>
            <a:r>
              <a:rPr b="0" sz="1500">
                <a:solidFill>
                  <a:srgbClr val="666666"/>
                </a:solidFill>
              </a:rPr>
              <a:t>The spread was the anchor all three models leaned on. Without it, agreement collapses, the LSTM's unique signal doubles, and the architectures reveal how differently they read the game.</a:t>
            </a:r>
          </a:p>
          <a:p>
            <a:r>
              <a:rPr b="1" sz="1500">
                <a:solidFill>
                  <a:srgbClr val="666666"/>
                </a:solidFill>
              </a:rPr>
              <a:t>Momentum is real, but it changes shape. </a:t>
            </a:r>
            <a:r>
              <a:rPr b="0" sz="1500">
                <a:solidFill>
                  <a:srgbClr val="666666"/>
                </a:solidFill>
              </a:rPr>
              <a:t>The LSTM finds temporal patterns that improve predictions during training. But the NFL evolves — and those patterns don't transfer forward unchanged. That tells us something about the sport itself.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Calibri"/>
              </a:rPr>
              <a:t>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011680" cy="50800"/>
          </a:xfrm>
          <a:prstGeom prst="rect">
            <a:avLst/>
          </a:prstGeom>
          <a:solidFill>
            <a:srgbClr val="4E9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b="1" sz="1500">
                <a:solidFill>
                  <a:srgbClr val="666666"/>
                </a:solidFill>
              </a:rPr>
              <a:t>Small cell sizes in spread strata: </a:t>
            </a:r>
            <a:r>
              <a:rPr b="0" sz="1500">
                <a:solidFill>
                  <a:srgbClr val="666666"/>
                </a:solidFill>
              </a:rPr>
              <a:t>The LSTM inversion (false-alarm filter → upset detector) rests on 12 medium-spread exclusives. Striking pattern, but limited formal significance within individual strata.</a:t>
            </a:r>
          </a:p>
          <a:p>
            <a:r>
              <a:rPr b="1" sz="1500">
                <a:solidFill>
                  <a:srgbClr val="666666"/>
                </a:solidFill>
              </a:rPr>
              <a:t>Calibration artifacts: </a:t>
            </a:r>
            <a:r>
              <a:rPr b="0" sz="1500">
                <a:solidFill>
                  <a:srgbClr val="666666"/>
                </a:solidFill>
              </a:rPr>
              <a:t>Platt calibration compresses test probabilities to [0.19, 0.51], inflating threshold-based disagreement. Primary analyses use uncalibrated CV predictions; Top-K analysis used for the test set.</a:t>
            </a:r>
          </a:p>
          <a:p>
            <a:r>
              <a:rPr b="1" sz="1500">
                <a:solidFill>
                  <a:srgbClr val="666666"/>
                </a:solidFill>
              </a:rPr>
              <a:t>Sample constraints: </a:t>
            </a:r>
            <a:r>
              <a:rPr b="0" sz="1500">
                <a:solidFill>
                  <a:srgbClr val="666666"/>
                </a:solidFill>
              </a:rPr>
              <a:t>3,495 training games, 558 test games. The NFL produces only ~270 games per season. Per-season results rest on 181–192 games each.</a:t>
            </a:r>
          </a:p>
          <a:p>
            <a:r>
              <a:rPr b="1" sz="1500">
                <a:solidFill>
                  <a:srgbClr val="666666"/>
                </a:solidFill>
              </a:rPr>
              <a:t>Feature scope: </a:t>
            </a:r>
            <a:r>
              <a:rPr b="0" sz="1500">
                <a:solidFill>
                  <a:srgbClr val="666666"/>
                </a:solidFill>
              </a:rPr>
              <a:t>No player-level data, injury reports, weather forecasts, or motivational factors. The "hidden information" category is partly a data limitation — with richer data, some of those upsets might become classifiable.</a:t>
            </a:r>
          </a:p>
          <a:p>
            <a:r>
              <a:rPr b="1" sz="1500">
                <a:solidFill>
                  <a:srgbClr val="666666"/>
                </a:solidFill>
              </a:rPr>
              <a:t>Single sport: </a:t>
            </a:r>
            <a:r>
              <a:rPr b="0" sz="1500">
                <a:solidFill>
                  <a:srgbClr val="666666"/>
                </a:solidFill>
              </a:rPr>
              <a:t>NFL has specific structural properties — 17-game seasons, high per-game variance, and a dominant betting market. The disagreement framework generalizes; the specific taxonomy is NFL-specific.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333333"/>
                </a:solidFill>
              </a:rPr>
              <a:t>Model Failure Is Diagnostic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011680" cy="50800"/>
          </a:xfrm>
          <a:prstGeom prst="rect">
            <a:avLst/>
          </a:prstGeom>
          <a:solidFill>
            <a:srgbClr val="4E9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4E9EAD"/>
                </a:solidFill>
              </a:rPr>
              <a:t>Instead of asking which model predicts best, this study used the structure of their disagreements to diagnose why NFL outcomes happen.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500">
                <a:solidFill>
                  <a:srgbClr val="666666"/>
                </a:solidFill>
              </a:rPr>
              <a:t>The core insight: </a:t>
            </a:r>
            <a:r>
              <a:rPr b="0" sz="1500">
                <a:solidFill>
                  <a:srgbClr val="666666"/>
                </a:solidFill>
              </a:rPr>
              <a:t>when structurally different models fail on different games, the pattern of failure reveals the mechanism behind the outcome. NFL upsets are not random — they are driven by at least four distinct mechanisms, each visible through a different architectural lens:</a:t>
            </a:r>
          </a:p>
          <a:p>
            <a:r>
              <a:rPr b="1" sz="1500">
                <a:solidFill>
                  <a:srgbClr val="666666"/>
                </a:solidFill>
              </a:rPr>
              <a:t>Consensus signal (45%): </a:t>
            </a:r>
            <a:r>
              <a:rPr b="0" sz="1500">
                <a:solidFill>
                  <a:srgbClr val="666666"/>
                </a:solidFill>
              </a:rPr>
              <a:t>All three models agree. The mismatch was obvious from every angle — summary stats, feature interactions, and trajectories all pointed the same way.</a:t>
            </a:r>
          </a:p>
          <a:p>
            <a:r>
              <a:rPr b="1" sz="1500">
                <a:solidFill>
                  <a:srgbClr val="666666"/>
                </a:solidFill>
              </a:rPr>
              <a:t>Temporal signal (6%): </a:t>
            </a:r>
            <a:r>
              <a:rPr b="0" sz="1500">
                <a:solidFill>
                  <a:srgbClr val="666666"/>
                </a:solidFill>
              </a:rPr>
              <a:t>Only the LSTM sees it. And its role inverts by context: at close spreads it filters false alarms (92%); at medium spreads it detects real upsets (83%). That context-dependence is the strongest evidence the signal is structural, not noise.</a:t>
            </a:r>
          </a:p>
          <a:p>
            <a:r>
              <a:rPr b="1" sz="1500">
                <a:solidFill>
                  <a:srgbClr val="666666"/>
                </a:solidFill>
              </a:rPr>
              <a:t>Hidden information (~24% of failures): </a:t>
            </a:r>
            <a:r>
              <a:rPr b="0" sz="1500">
                <a:solidFill>
                  <a:srgbClr val="666666"/>
                </a:solidFill>
              </a:rPr>
              <a:t>Every model fails on a big favorite. The cause was outside the data — injury, motivation, game-day scheme change.</a:t>
            </a:r>
          </a:p>
          <a:p>
            <a:r>
              <a:rPr b="1" sz="1500">
                <a:solidFill>
                  <a:srgbClr val="666666"/>
                </a:solidFill>
              </a:rPr>
              <a:t>Irreducible variance (~76% of failures): </a:t>
            </a:r>
            <a:r>
              <a:rPr b="0" sz="1500">
                <a:solidFill>
                  <a:srgbClr val="666666"/>
                </a:solidFill>
              </a:rPr>
              <a:t>Every model fails on a close game. A coin flip. No pre-game model resolves which way a 3-point game breaks.</a:t>
            </a:r>
          </a:p>
          <a:p>
            <a:r>
              <a:rPr b="1" sz="1500">
                <a:solidFill>
                  <a:srgbClr val="666666"/>
                </a:solidFill>
              </a:rPr>
              <a:t>No single model reveals this structure. You need the disagreement.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333333"/>
                </a:solidFill>
              </a:rPr>
              <a:t>Where This Framework Goes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011680" cy="50800"/>
          </a:xfrm>
          <a:prstGeom prst="rect">
            <a:avLst/>
          </a:prstGeom>
          <a:solidFill>
            <a:srgbClr val="4E9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4E9EAD"/>
                </a:solidFill>
              </a:rPr>
              <a:t>Sharpen the taxonomy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b="0" sz="1500">
                <a:solidFill>
                  <a:srgbClr val="666666"/>
                </a:solidFill>
              </a:rPr>
              <a:t>Add game-day data — injuries, weather, motivation — to shrink the "hidden information" bucket. If those upsets become classifiable, the taxonomy tightens.</a:t>
            </a:r>
          </a:p>
          <a:p>
            <a:r>
              <a:rPr b="0" sz="1500">
                <a:solidFill>
                  <a:srgbClr val="666666"/>
                </a:solidFill>
              </a:rPr>
              <a:t>Give the LSTM player-level trajectories instead of team averages. A team's momentum might really be one player getting healthy.</a:t>
            </a:r>
          </a:p>
          <a:p>
            <a:r>
              <a:rPr b="0" sz="1500">
                <a:solidFill>
                  <a:srgbClr val="666666"/>
                </a:solidFill>
              </a:rPr>
              <a:t>Retrain on rolling windows so momentum patterns stay current. The NFL of 2015 is not the NFL of 2024.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4E9EAD"/>
                </a:solidFill>
              </a:rPr>
              <a:t>Export the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b="0" sz="1500">
                <a:solidFill>
                  <a:srgbClr val="666666"/>
                </a:solidFill>
              </a:rPr>
              <a:t>NBA: 82-game seasons and less per-game variance — more data, cleaner signal. Does the LSTM's dual role survive with longer seasons?</a:t>
            </a:r>
          </a:p>
          <a:p>
            <a:r>
              <a:rPr b="0" sz="1500">
                <a:solidFill>
                  <a:srgbClr val="666666"/>
                </a:solidFill>
              </a:rPr>
              <a:t>Medical diagnosis: structurally different tests (MRI vs. biopsy vs. bloodwork) already exist. The same disagreement × context logic could categorize diagnostic failures.</a:t>
            </a:r>
          </a:p>
          <a:p>
            <a:r>
              <a:rPr b="0" sz="1500">
                <a:solidFill>
                  <a:srgbClr val="666666"/>
                </a:solidFill>
              </a:rPr>
              <a:t>Financial prediction: market crashes have heterogeneous mechanisms too. Which model fails tells you whether the cause was momentum, fundamentals, or a black swan.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94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4E9EAD"/>
                </a:solidFill>
              </a:rPr>
              <a:t>The reframe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15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500">
                <a:solidFill>
                  <a:srgbClr val="666666"/>
                </a:solidFill>
              </a:rPr>
              <a:t>Stop asking "which model is best." Start asking "what do their disagreements reveal about the problem?" </a:t>
            </a:r>
            <a:r>
              <a:rPr b="0" sz="1500">
                <a:solidFill>
                  <a:srgbClr val="666666"/>
                </a:solidFill>
              </a:rPr>
              <a:t>The models aren't competing. They're diagnostic instruments. That shift in perspective is the real contribution.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Calibri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011680" cy="50800"/>
          </a:xfrm>
          <a:prstGeom prst="rect">
            <a:avLst/>
          </a:prstGeom>
          <a:solidFill>
            <a:srgbClr val="4E9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0" sz="1500">
                <a:solidFill>
                  <a:srgbClr val="666666"/>
                </a:solidFill>
              </a:rPr>
              <a:t>Boulier, B. L., &amp; Stekler, H. O. (2003). Predicting the outcomes of NFL games. International Journal of Forecasting, 19(2), 257-270.</a:t>
            </a:r>
          </a:p>
          <a:p>
            <a:r>
              <a:rPr b="0" sz="1500">
                <a:solidFill>
                  <a:srgbClr val="666666"/>
                </a:solidFill>
              </a:rPr>
              <a:t>Boulier, B. L., Stekler, H. O., &amp; Amundson, S. (2006). Testing the efficiency of the NFL point spread. Journal of Quantitative Analysis in Sports, 2(2).</a:t>
            </a:r>
          </a:p>
          <a:p>
            <a:r>
              <a:rPr b="0" sz="1500">
                <a:solidFill>
                  <a:srgbClr val="666666"/>
                </a:solidFill>
              </a:rPr>
              <a:t>Dietterich, T. G. (2000). Ensemble methods in machine learning. MCS 2000, LNCS 1857.</a:t>
            </a:r>
          </a:p>
          <a:p>
            <a:r>
              <a:rPr b="0" sz="1500">
                <a:solidFill>
                  <a:srgbClr val="666666"/>
                </a:solidFill>
              </a:rPr>
              <a:t>Glickman, M. E., &amp; Stern, H. S. (1998). A state-space model for NFL scores. JASA, 93(441), 25-35.</a:t>
            </a:r>
          </a:p>
          <a:p>
            <a:r>
              <a:rPr b="0" sz="1500">
                <a:solidFill>
                  <a:srgbClr val="666666"/>
                </a:solidFill>
              </a:rPr>
              <a:t>Gordon, M. L., et al. (2021). Disagreement deconstructed. CHI '21.</a:t>
            </a:r>
          </a:p>
          <a:p>
            <a:r>
              <a:rPr b="0" sz="1500">
                <a:solidFill>
                  <a:srgbClr val="666666"/>
                </a:solidFill>
              </a:rPr>
              <a:t>Grinsztajn, L., Oyallon, E., &amp; Varoquaux, G. (2022). Why do tree-based models still outperform deep learning on typical tabular data? NeurIPS 35.</a:t>
            </a:r>
          </a:p>
          <a:p>
            <a:r>
              <a:rPr b="0" sz="1500">
                <a:solidFill>
                  <a:srgbClr val="666666"/>
                </a:solidFill>
              </a:rPr>
              <a:t>Huang, M.-L., &amp; Li, Y.-Z. (2021). Use of machine learning and deep learning to predict the outcomes of major league baseball games. Applied Sciences, 11(10), 4499.</a:t>
            </a:r>
          </a:p>
          <a:p>
            <a:r>
              <a:rPr b="0" sz="1500">
                <a:solidFill>
                  <a:srgbClr val="666666"/>
                </a:solidFill>
              </a:rPr>
              <a:t>Hubacek, O., Sourek, G., &amp; Zelezny, F. (2019). Exploiting sports-betting market using ML. IJF, 35(2), 783-796.</a:t>
            </a:r>
          </a:p>
          <a:p>
            <a:r>
              <a:rPr b="0" sz="1500">
                <a:solidFill>
                  <a:srgbClr val="666666"/>
                </a:solidFill>
              </a:rPr>
              <a:t>Krogh, A., &amp; Vedelsby, J. (1995). Neural network ensembles, cross validation, and active learning. NIPS 7.</a:t>
            </a:r>
          </a:p>
          <a:p>
            <a:r>
              <a:rPr b="0" sz="1500">
                <a:solidFill>
                  <a:srgbClr val="666666"/>
                </a:solidFill>
              </a:rPr>
              <a:t>Lakshminarayanan, B., Pritzel, A., &amp; Blundell, C. (2017). Simple and scalable predictive uncertainty estimation using deep ensembles. NeurIPS 30.</a:t>
            </a:r>
          </a:p>
          <a:p>
            <a:r>
              <a:rPr b="0" sz="1500">
                <a:solidFill>
                  <a:srgbClr val="666666"/>
                </a:solidFill>
              </a:rPr>
              <a:t>Song, C., Boulier, B. L., &amp; Stekler, H. O. (2007). The comparative accuracy of judgmental and model forecasts of American football games. IJF, 23(3), 405-413.</a:t>
            </a:r>
          </a:p>
          <a:p>
            <a:r>
              <a:rPr b="0" sz="1500">
                <a:solidFill>
                  <a:srgbClr val="666666"/>
                </a:solidFill>
              </a:rPr>
              <a:t>Wilkens, S. (2021). Sports prediction and betting models in the ML age. Journal of Sports Analytics, 7(2).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